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3.xml" ContentType="application/vnd.openxmlformats-officedocument.theme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ustom.xml" ContentType="application/vnd.openxmlformats-officedocument.custom-properties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4"/>
    <p:sldMasterId id="2147483666" r:id="rId5"/>
  </p:sldMasterIdLst>
  <p:notesMasterIdLst>
    <p:notesMasterId r:id="rId23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2V>
    <a:lastCol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lastCol>
    <a:firstCol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firstCol>
    <a:lastRow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8" d="100"/>
          <a:sy n="98" d="100"/>
        </p:scale>
        <p:origin x="102" y="726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theme" Target="theme/theme1.xml"/><Relationship Id="rId7" Type="http://schemas.openxmlformats.org/officeDocument/2006/relationships/theme" Target="theme/theme2.xml"/><Relationship Id="rId8" Type="http://schemas.openxmlformats.org/officeDocument/2006/relationships/theme" Target="theme/them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9671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575523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2B4B5EC-152C-4627-80C0-63B10D5574EF}" type="datetimeFigureOut">
              <a:rPr lang="en-US"/>
              <a:t>1/7/2023</a:t>
            </a:fld>
            <a:endParaRPr lang="en-US"/>
          </a:p>
        </p:txBody>
      </p:sp>
      <p:sp>
        <p:nvSpPr>
          <p:cNvPr id="93066280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47955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314315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13449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1EEE60E-651F-40CC-AD73-C00F10CE42B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7D9564-C93B-34CA-0CCD-167976AE5D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32A55B-ED67-2045-FB92-50F5762BBC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7A4EEE-357D-9545-B0A3-49B2EC4A03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921C3-A08F-AD25-ACFF-FA23C242A3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153D41-15A9-5A71-CEC1-74E8FE60C7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3FB9C0-2192-732E-B094-9C862056C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64815D-4900-B01F-F4EA-4446A41439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9418AB-B202-48C1-7E64-EBC3723777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A6D974-48BD-D6BB-D656-EAE0F37809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37A635-2C2F-EC27-6684-71D75E1C30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97A65-303F-2F89-B766-3281C747C5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6DC749-167D-B2DA-E80A-4B9FFA7E26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120535-A2CC-CB1C-322E-B240D05840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55C7B0-0705-EC8C-E616-DEEEF56B6D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8566893" name="Picture 2" descr="\\DROBO-FS\QuickDrops\JB\PPTX NG\Droplets\LightingOverlay.png"/>
          <p:cNvPicPr>
            <a:picLocks noChangeAspect="1" noChangeArrowheads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/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654353845" name="Group 10"/>
          <p:cNvGrpSpPr/>
          <p:nvPr/>
        </p:nvGrpSpPr>
        <p:grpSpPr bwMode="auto">
          <a:xfrm>
            <a:off x="0" y="0"/>
            <a:ext cx="2305051" cy="6858001"/>
            <a:chOff x="0" y="0"/>
            <a:chExt cx="2305051" cy="6858001"/>
          </a:xfrm>
          <a:gradFill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 fill="norm" stroke="1" extrusionOk="0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 fill="norm" stroke="1" extrusionOk="0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 fill="norm" stroke="1" extrusionOk="0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 fill="norm" stroke="1" extrusionOk="0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7"/>
            </a:xfrm>
            <a:custGeom>
              <a:avLst/>
              <a:gdLst/>
              <a:ahLst/>
              <a:cxnLst/>
              <a:rect l="0" t="0" r="r" b="b"/>
              <a:pathLst>
                <a:path w="264" h="329" fill="norm" stroke="1" extrusionOk="0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 fill="norm" stroke="1" extrusionOk="0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 fill="norm" stroke="1" extrusionOk="0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4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 fill="norm" stroke="1" extrusionOk="0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49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 fill="norm" stroke="1" extrusionOk="0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 fill="norm" stroke="1" extrusionOk="0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 fill="norm" stroke="1" extrusionOk="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 fill="norm" stroke="1" extrusionOk="0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 fill="norm" stroke="1" extrusionOk="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 fill="norm" stroke="1" extrusionOk="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 fill="norm" stroke="1" extrusionOk="0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7" cy="160338"/>
            </a:xfrm>
            <a:custGeom>
              <a:avLst/>
              <a:gdLst/>
              <a:ahLst/>
              <a:cxnLst/>
              <a:rect l="0" t="0" r="r" b="b"/>
              <a:pathLst>
                <a:path w="35" h="34" fill="norm" stroke="1" extrusionOk="0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899"/>
            </a:xfrm>
            <a:custGeom>
              <a:avLst/>
              <a:gdLst/>
              <a:ahLst/>
              <a:cxnLst/>
              <a:rect l="0" t="0" r="r" b="b"/>
              <a:pathLst>
                <a:path w="402" h="2536" fill="norm" stroke="1" extrusionOk="0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 fill="norm" stroke="1" extrusionOk="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49"/>
            </a:xfrm>
            <a:custGeom>
              <a:avLst/>
              <a:gdLst/>
              <a:ahLst/>
              <a:cxnLst/>
              <a:rect l="0" t="0" r="r" b="b"/>
              <a:pathLst>
                <a:path w="23" h="23" fill="norm" stroke="1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 fill="norm" stroke="1" extrusionOk="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 fill="norm" stroke="1" extrusionOk="0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 fill="norm" stroke="1" extrusionOk="0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 fill="norm" stroke="1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 fill="norm" stroke="1" extrusionOk="0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 fill="norm" stroke="1" extrusionOk="0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4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 fill="norm" stroke="1" extrusionOk="0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 fill="norm" stroke="1" extrusionOk="0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fill="norm" stroke="1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 fill="norm" stroke="1" extrusionOk="0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 fill="norm" stroke="1" extrusionOk="0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 fill="norm" stroke="1" extrusionOk="0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 fill="norm" stroke="1" extrusionOk="0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32782907" name="Title 1"/>
          <p:cNvSpPr>
            <a:spLocks noGrp="1"/>
          </p:cNvSpPr>
          <p:nvPr>
            <p:ph type="ctrTitle"/>
          </p:nvPr>
        </p:nvSpPr>
        <p:spPr bwMode="auto"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782575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5773771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077511" y="5410201"/>
            <a:ext cx="2743200" cy="365125"/>
          </a:xfrm>
        </p:spPr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211509338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876424" y="5410201"/>
            <a:ext cx="5124886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642005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96911" y="5410199"/>
            <a:ext cx="771089" cy="365125"/>
          </a:xfrm>
        </p:spPr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3013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42596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78191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9491600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90373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020361" name="Title 1"/>
          <p:cNvSpPr>
            <a:spLocks noGrp="1"/>
          </p:cNvSpPr>
          <p:nvPr>
            <p:ph type="title"/>
          </p:nvPr>
        </p:nvSpPr>
        <p:spPr bwMode="auto"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36509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669692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662400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04266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319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06669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2249486"/>
            <a:ext cx="4878389" cy="354171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61143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2249486"/>
            <a:ext cx="4875211" cy="354171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8478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9886778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49980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472968" name="Title 1"/>
          <p:cNvSpPr>
            <a:spLocks noGrp="1"/>
          </p:cNvSpPr>
          <p:nvPr>
            <p:ph type="title"/>
          </p:nvPr>
        </p:nvSpPr>
        <p:spPr bwMode="auto">
          <a:xfrm>
            <a:off x="1141411" y="619126"/>
            <a:ext cx="9906000" cy="14779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49747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93899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141410" y="3073397"/>
            <a:ext cx="4878390" cy="271780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764270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066205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3073397"/>
            <a:ext cx="4875210" cy="271780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36531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9831741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50624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1191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6861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81151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206448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427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22491049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36370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262192" name="Title 1"/>
          <p:cNvSpPr>
            <a:spLocks noGrp="1"/>
          </p:cNvSpPr>
          <p:nvPr>
            <p:ph type="title"/>
          </p:nvPr>
        </p:nvSpPr>
        <p:spPr bwMode="auto">
          <a:xfrm>
            <a:off x="1146705" y="609601"/>
            <a:ext cx="3856037" cy="1639883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9745455" name="Content Placeholder 2"/>
          <p:cNvSpPr>
            <a:spLocks noGrp="1"/>
          </p:cNvSpPr>
          <p:nvPr>
            <p:ph idx="1"/>
          </p:nvPr>
        </p:nvSpPr>
        <p:spPr bwMode="auto">
          <a:xfrm>
            <a:off x="5156200" y="592666"/>
            <a:ext cx="5891209" cy="5198534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49381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03708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3273889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53997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8029" name="Title 1"/>
          <p:cNvSpPr>
            <a:spLocks noGrp="1"/>
          </p:cNvSpPr>
          <p:nvPr>
            <p:ph type="title"/>
          </p:nvPr>
        </p:nvSpPr>
        <p:spPr bwMode="auto"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4229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500981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77201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20642788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41076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640812" name="Title 1"/>
          <p:cNvSpPr>
            <a:spLocks noGrp="1"/>
          </p:cNvSpPr>
          <p:nvPr>
            <p:ph type="title"/>
          </p:nvPr>
        </p:nvSpPr>
        <p:spPr bwMode="auto"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50970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459992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1843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3560354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5913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906048" name="Title 1"/>
          <p:cNvSpPr>
            <a:spLocks noGrp="1"/>
          </p:cNvSpPr>
          <p:nvPr>
            <p:ph type="title"/>
          </p:nvPr>
        </p:nvSpPr>
        <p:spPr bwMode="auto"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4104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36889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3033812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3428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711879" name="Title 1"/>
          <p:cNvSpPr>
            <a:spLocks noGrp="1"/>
          </p:cNvSpPr>
          <p:nvPr>
            <p:ph type="title"/>
          </p:nvPr>
        </p:nvSpPr>
        <p:spPr bwMode="auto">
          <a:xfrm>
            <a:off x="1446212" y="609599"/>
            <a:ext cx="9302752" cy="274842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765835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57235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55613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1322594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0374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633183094" name="TextBox 59"/>
          <p:cNvSpPr txBox="1"/>
          <p:nvPr/>
        </p:nvSpPr>
        <p:spPr bwMode="auto">
          <a:xfrm>
            <a:off x="903512" y="732394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834229586" name="TextBox 60"/>
          <p:cNvSpPr txBox="1"/>
          <p:nvPr/>
        </p:nvSpPr>
        <p:spPr bwMode="auto">
          <a:xfrm>
            <a:off x="10537370" y="2764972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90998" name="Title 1"/>
          <p:cNvSpPr>
            <a:spLocks noGrp="1"/>
          </p:cNvSpPr>
          <p:nvPr>
            <p:ph type="title"/>
          </p:nvPr>
        </p:nvSpPr>
        <p:spPr bwMode="auto"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167985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11389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2385814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2834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004752" name="Title 1"/>
          <p:cNvSpPr>
            <a:spLocks noGrp="1"/>
          </p:cNvSpPr>
          <p:nvPr>
            <p:ph type="title"/>
          </p:nvPr>
        </p:nvSpPr>
        <p:spPr bwMode="auto">
          <a:xfrm>
            <a:off x="1141413" y="609600"/>
            <a:ext cx="9905998" cy="19050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11022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7173996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60046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514766" y="2677635"/>
            <a:ext cx="318438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7311422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5694188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1225576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665777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75212214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465508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Pictur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65348" name="Title 1"/>
          <p:cNvSpPr>
            <a:spLocks noGrp="1"/>
          </p:cNvSpPr>
          <p:nvPr>
            <p:ph type="title"/>
          </p:nvPr>
        </p:nvSpPr>
        <p:spPr bwMode="auto">
          <a:xfrm>
            <a:off x="1141411" y="609600"/>
            <a:ext cx="9905999" cy="19050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38538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1357538" name="Picture Placeholder 2"/>
          <p:cNvSpPr>
            <a:spLocks noChangeAspect="1" noGrp="1"/>
          </p:cNvSpPr>
          <p:nvPr>
            <p:ph type="pic" idx="15"/>
          </p:nvPr>
        </p:nvSpPr>
        <p:spPr bwMode="auto"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/>
            </a:lvl1pPr>
          </a:lstStyle>
          <a:p>
            <a:pPr marL="0" lvl="0" indent="0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99860171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652437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6047545" name="Picture Placeholder 2"/>
          <p:cNvSpPr>
            <a:spLocks noChangeAspect="1" noGrp="1"/>
          </p:cNvSpPr>
          <p:nvPr>
            <p:ph type="pic" idx="21"/>
          </p:nvPr>
        </p:nvSpPr>
        <p:spPr bwMode="auto"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/>
            </a:lvl1pPr>
          </a:lstStyle>
          <a:p>
            <a:pPr marL="0" lvl="0" indent="0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84280212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6322308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4493867" name="Picture Placeholder 2"/>
          <p:cNvSpPr>
            <a:spLocks noChangeAspect="1" noGrp="1"/>
          </p:cNvSpPr>
          <p:nvPr>
            <p:ph type="pic" idx="22"/>
          </p:nvPr>
        </p:nvSpPr>
        <p:spPr bwMode="auto"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/>
            </a:lvl1pPr>
          </a:lstStyle>
          <a:p>
            <a:pPr marL="0" lvl="0" indent="0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79940263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32466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5471007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23779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8128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78202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02350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9917542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2241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69651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042400" y="609599"/>
            <a:ext cx="2005011" cy="5181601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924032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41410" y="609599"/>
            <a:ext cx="7748590" cy="5181601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17701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1367260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3044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164740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64525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105133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98065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8306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9818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687223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8667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1620454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5045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18893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13711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740783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4504176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23989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84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71451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49954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608809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95618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601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843401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92621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265232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5487634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9037708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382006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792065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399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4900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7162930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894466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43075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49385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302661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092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738381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43914811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80336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041507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368472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5936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91011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6397127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5322937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836634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59083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829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8034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910099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454012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435815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2310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42064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973919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17449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019854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963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4418405" name="Picture 2" descr="\\DROBO-FS\QuickDrops\JB\PPTX NG\Droplets\LightingOverlay.png"/>
          <p:cNvPicPr>
            <a:picLocks noChangeAspect="1" noChangeArrowheads="1"/>
          </p:cNvPicPr>
          <p:nvPr/>
        </p:nvPicPr>
        <p:blipFill rotWithShape="1"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/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41354978" name="Group 7"/>
          <p:cNvGrpSpPr/>
          <p:nvPr/>
        </p:nvGrpSpPr>
        <p:grpSpPr bwMode="auto">
          <a:xfrm>
            <a:off x="-14288" y="0"/>
            <a:ext cx="12053888" cy="6858001"/>
            <a:chOff x="-14288" y="0"/>
            <a:chExt cx="12053888" cy="6858001"/>
          </a:xfrm>
          <a:gradFill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grpSpPr>
        <p:grpSp>
          <p:nvGrpSpPr>
            <p:cNvPr id="9" name="Group 8"/>
            <p:cNvGrpSpPr/>
            <p:nvPr/>
          </p:nvGrpSpPr>
          <p:grpSpPr bwMode="auto"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 fill="norm" stroke="1" extrusionOk="0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 fill="norm" stroke="1" extrusionOk="0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 fill="norm" stroke="1" extrusionOk="0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 fill="norm" stroke="1" extrusionOk="0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 fill="norm" stroke="1" extrusionOk="0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 fill="norm" stroke="1" extrusionOk="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 fill="norm" stroke="1" extrusionOk="0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 fill="norm" stroke="1" extrusionOk="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49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 fill="norm" stroke="1" extrusionOk="0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 fill="norm" stroke="1" extrusionOk="0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 fill="norm" stroke="1" extrusionOk="0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4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 fill="norm" stroke="1" extrusionOk="0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 fill="norm" stroke="1" extrusionOk="0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2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 fill="norm" stroke="1" extrusionOk="0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 fill="norm" stroke="1" extrusionOk="0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 bwMode="auto"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 fill="norm" stroke="1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 fill="norm" stroke="1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599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 fill="norm" stroke="1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 fill="norm" stroke="1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 fill="norm" stroke="1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4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 fill="norm" stroke="1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fill="norm" stroke="1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741921785" name="Title Placeholder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779221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532197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A87A34-81AB-432B-8DAE-1953F412C126}" type="datetimeFigureOut">
              <a:rPr lang="en-US"/>
              <a:t>1/7/2023</a:t>
            </a:fld>
            <a:endParaRPr lang="en-US"/>
          </a:p>
        </p:txBody>
      </p:sp>
      <p:sp>
        <p:nvSpPr>
          <p:cNvPr id="3258410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046896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20000"/>
        </a:lnSpc>
        <a:spcBef>
          <a:spcPts val="1000"/>
        </a:spcBef>
        <a:buSzPct val="125000"/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8792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479569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754397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00486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44459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bloomstaxonomy.net/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ooks.trinket.io/thinkjava2/chapter1.html#:~:text=an%20algorithm%20is%20a%20sequence%20of%20steps%20that%20specifies%20how%20to%20solve%20a%20problem.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bloomstaxonomy.net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ooks.trinket.io/thinkjava2/chapter2.html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ooks.trinket.io/thinkjava2/chapter2.html" TargetMode="External"/><Relationship Id="rId4" Type="http://schemas.openxmlformats.org/officeDocument/2006/relationships/hyperlink" Target="https://www.geeksforgeeks.org/list-of-all-java-keywords/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747927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5400">
                <a:latin typeface="Rockwell"/>
              </a:rPr>
              <a:t>Find and Fix Errors</a:t>
            </a:r>
            <a:br>
              <a:rPr lang="en-US" sz="5400">
                <a:latin typeface="Rockwell"/>
              </a:rPr>
            </a:br>
            <a:r>
              <a:rPr lang="en-US" sz="5400">
                <a:latin typeface="Rockwell"/>
              </a:rPr>
              <a:t>In Java Source Code</a:t>
            </a:r>
            <a:endParaRPr/>
          </a:p>
        </p:txBody>
      </p:sp>
      <p:sp>
        <p:nvSpPr>
          <p:cNvPr id="286267577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2400" u="sng">
                <a:latin typeface="Tahoma"/>
                <a:ea typeface="Tahoma"/>
                <a:cs typeface="Tahoma"/>
                <a:hlinkClick r:id="rId3" tooltip=""/>
              </a:rPr>
              <a:t>Bloom’s Taxonomy: Understanding</a:t>
            </a:r>
            <a:endParaRPr lang="en-US" sz="240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2630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>
                <a:latin typeface="Rockwell"/>
              </a:rPr>
              <a:t>Given a java program that contains errors:</a:t>
            </a:r>
            <a:br>
              <a:rPr lang="en-US" sz="4400">
                <a:latin typeface="Rockwell"/>
              </a:rPr>
            </a:br>
            <a:r>
              <a:rPr lang="en-US" sz="4400">
                <a:latin typeface="Rockwell"/>
              </a:rPr>
              <a:t>find, document, and fix the errors</a:t>
            </a:r>
            <a:endParaRPr/>
          </a:p>
        </p:txBody>
      </p:sp>
      <p:sp>
        <p:nvSpPr>
          <p:cNvPr id="1121684292" name="Content Placeholder 2"/>
          <p:cNvSpPr>
            <a:spLocks noGrp="1"/>
          </p:cNvSpPr>
          <p:nvPr>
            <p:ph idx="1"/>
          </p:nvPr>
        </p:nvSpPr>
        <p:spPr bwMode="auto">
          <a:xfrm>
            <a:off x="1141412" y="2249487"/>
            <a:ext cx="9905999" cy="4423162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>
                <a:latin typeface="Tahoma"/>
                <a:ea typeface="Tahoma"/>
                <a:cs typeface="Tahoma"/>
              </a:rPr>
              <a:t>The instructor will (re)view the syntax for the new language feature that we’re learning</a:t>
            </a:r>
            <a:endParaRPr/>
          </a:p>
          <a:p>
            <a:pPr>
              <a:defRPr/>
            </a:pPr>
            <a:r>
              <a:rPr lang="en-US">
                <a:latin typeface="Tahoma"/>
                <a:ea typeface="Tahoma"/>
                <a:cs typeface="Tahoma"/>
              </a:rPr>
              <a:t>The instructor will provide you with a Java program to examine</a:t>
            </a:r>
            <a:endParaRPr/>
          </a:p>
          <a:p>
            <a:pPr>
              <a:defRPr/>
            </a:pPr>
            <a:r>
              <a:rPr lang="en-US">
                <a:latin typeface="Tahoma"/>
                <a:ea typeface="Tahoma"/>
                <a:cs typeface="Tahoma"/>
              </a:rPr>
              <a:t>In a small group you will have 10-15 minutes to read through the program.  Make sure to find, document, and fix each of the errors in the program.</a:t>
            </a:r>
            <a:endParaRPr/>
          </a:p>
          <a:p>
            <a:pPr>
              <a:defRPr/>
            </a:pPr>
            <a:endParaRPr lang="en-US">
              <a:latin typeface="Tahoma"/>
              <a:ea typeface="Tahoma"/>
              <a:cs typeface="Tahoma"/>
            </a:endParaRPr>
          </a:p>
          <a:p>
            <a:pPr>
              <a:defRPr/>
            </a:pPr>
            <a:r>
              <a:rPr lang="en-US">
                <a:latin typeface="Tahoma"/>
                <a:ea typeface="Tahoma"/>
                <a:cs typeface="Tahoma"/>
              </a:rPr>
              <a:t>There will be syntax errors and semantic (logical) errors</a:t>
            </a:r>
            <a:endParaRPr/>
          </a:p>
          <a:p>
            <a:pPr>
              <a:defRPr/>
            </a:pPr>
            <a:r>
              <a:rPr lang="en-US" sz="3000" b="1">
                <a:solidFill>
                  <a:srgbClr val="FFFF00"/>
                </a:solidFill>
                <a:latin typeface="Tahoma"/>
                <a:ea typeface="Tahoma"/>
                <a:cs typeface="Tahoma"/>
              </a:rPr>
              <a:t>Always record all the errors in a Word/PDF file: “Find_And_Fix_Errors_Table.docx”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87271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400">
                <a:latin typeface="Rockwell"/>
              </a:rPr>
              <a:t>Finding and fixing </a:t>
            </a:r>
            <a:br>
              <a:rPr lang="en-US" sz="4400">
                <a:latin typeface="Rockwell"/>
              </a:rPr>
            </a:br>
            <a:r>
              <a:rPr lang="en-US" sz="4400">
                <a:latin typeface="Rockwell"/>
              </a:rPr>
              <a:t>Syntax errors</a:t>
            </a:r>
            <a:endParaRPr/>
          </a:p>
        </p:txBody>
      </p:sp>
      <p:sp>
        <p:nvSpPr>
          <p:cNvPr id="8084134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97622" y="2249486"/>
            <a:ext cx="10385571" cy="3541714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sz="2400">
                <a:latin typeface="Tahoma"/>
                <a:ea typeface="Tahoma"/>
                <a:cs typeface="Tahoma"/>
              </a:rPr>
              <a:t>You can find these by trying to compile (or run) the program</a:t>
            </a:r>
            <a:br>
              <a:rPr lang="en-US" sz="2400">
                <a:latin typeface="Tahoma"/>
                <a:ea typeface="Tahoma"/>
                <a:cs typeface="Tahoma"/>
              </a:rPr>
            </a:br>
            <a:r>
              <a:rPr lang="en-US" sz="2400">
                <a:latin typeface="Tahoma"/>
                <a:ea typeface="Tahoma"/>
                <a:cs typeface="Tahoma"/>
              </a:rPr>
              <a:t>and seeing what error messages you get</a:t>
            </a:r>
            <a:endParaRPr/>
          </a:p>
          <a:p>
            <a:pPr lvl="1">
              <a:defRPr/>
            </a:pPr>
            <a:endParaRPr lang="en-US" sz="2400">
              <a:latin typeface="Tahoma"/>
              <a:ea typeface="Tahoma"/>
              <a:cs typeface="Tahoma"/>
            </a:endParaRPr>
          </a:p>
          <a:p>
            <a:pPr lvl="1">
              <a:defRPr/>
            </a:pPr>
            <a:r>
              <a:rPr lang="en-US" sz="2400">
                <a:latin typeface="Tahoma"/>
                <a:ea typeface="Tahoma"/>
                <a:cs typeface="Tahoma"/>
              </a:rPr>
              <a:t>WARNING: The Java error message tells you where Java got confused</a:t>
            </a:r>
            <a:br>
              <a:rPr lang="en-US" sz="2400">
                <a:latin typeface="Tahoma"/>
                <a:ea typeface="Tahoma"/>
                <a:cs typeface="Tahoma"/>
              </a:rPr>
            </a:br>
            <a:r>
              <a:rPr lang="en-US" sz="2400">
                <a:latin typeface="Tahoma"/>
                <a:ea typeface="Tahoma"/>
                <a:cs typeface="Tahoma"/>
              </a:rPr>
              <a:t>It does NOT (necessarily) tell you what the error is.</a:t>
            </a:r>
            <a:endParaRPr/>
          </a:p>
          <a:p>
            <a:pPr lvl="2">
              <a:defRPr/>
            </a:pPr>
            <a:r>
              <a:rPr lang="en-US" sz="2200">
                <a:latin typeface="Tahoma"/>
                <a:ea typeface="Tahoma"/>
                <a:cs typeface="Tahoma"/>
              </a:rPr>
              <a:t>(</a:t>
            </a:r>
            <a:r>
              <a:rPr lang="en-US" sz="2200" i="1">
                <a:latin typeface="Tahoma"/>
                <a:ea typeface="Tahoma"/>
                <a:cs typeface="Tahoma"/>
              </a:rPr>
              <a:t>Sometimes</a:t>
            </a:r>
            <a:r>
              <a:rPr lang="en-US" sz="2200">
                <a:latin typeface="Tahoma"/>
                <a:ea typeface="Tahoma"/>
                <a:cs typeface="Tahoma"/>
              </a:rPr>
              <a:t> the error message tells you exactly what caused the error, but </a:t>
            </a:r>
            <a:r>
              <a:rPr lang="en-US" sz="2200" i="1">
                <a:latin typeface="Tahoma"/>
                <a:ea typeface="Tahoma"/>
                <a:cs typeface="Tahoma"/>
              </a:rPr>
              <a:t>many</a:t>
            </a:r>
            <a:r>
              <a:rPr lang="en-US" sz="2200">
                <a:latin typeface="Tahoma"/>
                <a:ea typeface="Tahoma"/>
                <a:cs typeface="Tahoma"/>
              </a:rPr>
              <a:t> times it won’t)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024777" name="Title 1"/>
          <p:cNvSpPr>
            <a:spLocks noGrp="1"/>
          </p:cNvSpPr>
          <p:nvPr>
            <p:ph type="title"/>
          </p:nvPr>
        </p:nvSpPr>
        <p:spPr bwMode="auto">
          <a:xfrm>
            <a:off x="1141410" y="22215"/>
            <a:ext cx="9905998" cy="1478570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Rockwell"/>
              </a:rPr>
              <a:t>Finding and fixing </a:t>
            </a:r>
            <a:br>
              <a:rPr lang="en-US" sz="3600">
                <a:latin typeface="Rockwell"/>
              </a:rPr>
            </a:br>
            <a:r>
              <a:rPr lang="en-US" sz="3600">
                <a:latin typeface="Rockwell"/>
              </a:rPr>
              <a:t>Syntax errors – </a:t>
            </a:r>
            <a:r>
              <a:rPr lang="en-US" sz="3600">
                <a:latin typeface="Rockwell"/>
              </a:rPr>
              <a:t>jGRASP</a:t>
            </a:r>
            <a:r>
              <a:rPr lang="en-US" sz="3600">
                <a:latin typeface="Rockwell"/>
              </a:rPr>
              <a:t> advice</a:t>
            </a:r>
            <a:endParaRPr lang="en-US"/>
          </a:p>
        </p:txBody>
      </p:sp>
      <p:sp>
        <p:nvSpPr>
          <p:cNvPr id="14425027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741406" y="1233182"/>
            <a:ext cx="4802660" cy="562481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In </a:t>
            </a:r>
            <a:r>
              <a:rPr lang="en-US"/>
              <a:t>jGRASP</a:t>
            </a:r>
            <a:r>
              <a:rPr lang="en-US"/>
              <a:t>: Click the ‘Run’ button at the top (or the ‘Compile’ button)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1516397098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94" y="2711752"/>
            <a:ext cx="6270883" cy="4195005"/>
          </a:xfrm>
          <a:prstGeom prst="rect">
            <a:avLst/>
          </a:prstGeom>
        </p:spPr>
      </p:pic>
      <p:pic>
        <p:nvPicPr>
          <p:cNvPr id="827715627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71071" y="1212534"/>
            <a:ext cx="5010849" cy="1257475"/>
          </a:xfrm>
          <a:prstGeom prst="rect">
            <a:avLst/>
          </a:prstGeom>
        </p:spPr>
      </p:pic>
      <p:sp>
        <p:nvSpPr>
          <p:cNvPr id="1206648768" name="Content Placeholder 2"/>
          <p:cNvSpPr txBox="1"/>
          <p:nvPr/>
        </p:nvSpPr>
        <p:spPr bwMode="auto">
          <a:xfrm>
            <a:off x="6565555" y="3822356"/>
            <a:ext cx="4802660" cy="2735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120000"/>
              </a:lnSpc>
              <a:spcBef>
                <a:spcPts val="1000"/>
              </a:spcBef>
              <a:buSzPct val="125000"/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In the ‘Compile Messages’ panel on the bottom, look for error messages.</a:t>
            </a:r>
            <a:endParaRPr/>
          </a:p>
          <a:p>
            <a:pPr>
              <a:defRPr/>
            </a:pPr>
            <a:r>
              <a:rPr lang="en-US"/>
              <a:t>HINT: You can click on the file name and it’ll show you to the line of the file where it got confused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cxnSp>
        <p:nvCxnSpPr>
          <p:cNvPr id="1346935643" name="Straight Arrow Connector 10"/>
          <p:cNvCxnSpPr/>
          <p:nvPr/>
        </p:nvCxnSpPr>
        <p:spPr bwMode="auto">
          <a:xfrm flipH="1">
            <a:off x="2916195" y="4316627"/>
            <a:ext cx="3781167" cy="145809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530141" name="Title 1"/>
          <p:cNvSpPr>
            <a:spLocks noGrp="1"/>
          </p:cNvSpPr>
          <p:nvPr>
            <p:ph type="title"/>
          </p:nvPr>
        </p:nvSpPr>
        <p:spPr bwMode="auto">
          <a:xfrm>
            <a:off x="1141410" y="22215"/>
            <a:ext cx="9905998" cy="1478570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Rockwell"/>
              </a:rPr>
              <a:t>Finding and fixing </a:t>
            </a:r>
            <a:br>
              <a:rPr lang="en-US" sz="3600">
                <a:latin typeface="Rockwell"/>
              </a:rPr>
            </a:br>
            <a:r>
              <a:rPr lang="en-US" sz="3600">
                <a:latin typeface="Rockwell"/>
              </a:rPr>
              <a:t>Syntax errors – Repl.it advice</a:t>
            </a:r>
            <a:endParaRPr lang="en-US"/>
          </a:p>
        </p:txBody>
      </p:sp>
      <p:sp>
        <p:nvSpPr>
          <p:cNvPr id="18031690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1233182"/>
            <a:ext cx="9905998" cy="562481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In Repl.it: Click the ‘Run’ button at the top</a:t>
            </a:r>
            <a:endParaRPr/>
          </a:p>
          <a:p>
            <a:pPr>
              <a:defRPr/>
            </a:pPr>
            <a:r>
              <a:rPr lang="en-US"/>
              <a:t>In the ‘Console’ panel on the right, look for error messages.</a:t>
            </a:r>
            <a:endParaRPr/>
          </a:p>
          <a:p>
            <a:pPr>
              <a:defRPr/>
            </a:pPr>
            <a:r>
              <a:rPr lang="en-US"/>
              <a:t>HINT: You can click on the file name and it’ll show you to the line of the file where it got confused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2119408834" name="Picture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41410" y="3429000"/>
            <a:ext cx="9303391" cy="1928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95155" name="Title 1"/>
          <p:cNvSpPr>
            <a:spLocks noGrp="1"/>
          </p:cNvSpPr>
          <p:nvPr>
            <p:ph type="title"/>
          </p:nvPr>
        </p:nvSpPr>
        <p:spPr bwMode="auto">
          <a:xfrm>
            <a:off x="1143001" y="0"/>
            <a:ext cx="9905998" cy="122479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>
                <a:latin typeface="Rockwell"/>
              </a:rPr>
              <a:t>Finding and fixing </a:t>
            </a:r>
            <a:br>
              <a:rPr lang="en-US" sz="3600">
                <a:latin typeface="Rockwell"/>
              </a:rPr>
            </a:br>
            <a:r>
              <a:rPr lang="en-US" sz="3600">
                <a:latin typeface="Rockwell"/>
              </a:rPr>
              <a:t>Syntax errors – General advice</a:t>
            </a:r>
            <a:endParaRPr lang="en-US"/>
          </a:p>
        </p:txBody>
      </p:sp>
      <p:sp>
        <p:nvSpPr>
          <p:cNvPr id="5810319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1359017"/>
            <a:ext cx="9905998" cy="549898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Try comparing your problem to a program that works (compiles, runs, </a:t>
            </a:r>
            <a:r>
              <a:rPr lang="en-US"/>
              <a:t>etc</a:t>
            </a:r>
            <a:r>
              <a:rPr lang="en-US"/>
              <a:t>)</a:t>
            </a:r>
            <a:endParaRPr/>
          </a:p>
          <a:p>
            <a:pPr>
              <a:defRPr/>
            </a:pPr>
            <a:r>
              <a:rPr lang="en-US">
                <a:solidFill>
                  <a:srgbClr val="FFFF00"/>
                </a:solidFill>
              </a:rPr>
              <a:t>Algorithm</a:t>
            </a:r>
            <a:r>
              <a:rPr lang="en-US"/>
              <a:t>: </a:t>
            </a:r>
            <a:endParaRPr/>
          </a:p>
          <a:p>
            <a:pPr lvl="1">
              <a:defRPr/>
            </a:pPr>
            <a:r>
              <a:rPr lang="en-US" i="1"/>
              <a:t>“An algorithm is a sequence of steps that specifies how to solve a problem.” – </a:t>
            </a:r>
            <a:r>
              <a:rPr lang="en-US" i="1" u="sng">
                <a:hlinkClick r:id="rId3" tooltip=""/>
              </a:rPr>
              <a:t>Chapter 1</a:t>
            </a:r>
            <a:endParaRPr lang="en-US" i="1"/>
          </a:p>
          <a:p>
            <a:pPr lvl="1">
              <a:defRPr/>
            </a:pPr>
            <a:r>
              <a:rPr lang="en-US"/>
              <a:t>Click ‘Run’</a:t>
            </a:r>
            <a:endParaRPr/>
          </a:p>
          <a:p>
            <a:pPr lvl="1">
              <a:defRPr/>
            </a:pPr>
            <a:r>
              <a:rPr lang="en-US"/>
              <a:t>fix the first error</a:t>
            </a:r>
            <a:endParaRPr/>
          </a:p>
          <a:p>
            <a:pPr lvl="2">
              <a:defRPr/>
            </a:pPr>
            <a:r>
              <a:rPr lang="en-US"/>
              <a:t>If you’re stuck on this error it’s ok to look at the first 2-3 errors to see if you can make progress with any other errors instead of the very first one</a:t>
            </a:r>
            <a:endParaRPr/>
          </a:p>
          <a:p>
            <a:pPr lvl="1">
              <a:defRPr/>
            </a:pPr>
            <a:r>
              <a:rPr lang="en-US"/>
              <a:t>then write down: </a:t>
            </a:r>
            <a:endParaRPr/>
          </a:p>
          <a:p>
            <a:pPr marL="1257300" lvl="2" indent="-342900">
              <a:buFont typeface="+mj-lt"/>
              <a:buAutoNum type="arabicPeriod"/>
              <a:defRPr/>
            </a:pPr>
            <a:r>
              <a:rPr lang="en-US" i="1"/>
              <a:t>the line number that CAUSES the problem</a:t>
            </a:r>
            <a:endParaRPr/>
          </a:p>
          <a:p>
            <a:pPr marL="1257300" lvl="2" indent="-342900">
              <a:buFont typeface="+mj-lt"/>
              <a:buAutoNum type="arabicPeriod"/>
              <a:defRPr/>
            </a:pPr>
            <a:r>
              <a:rPr lang="en-US" i="1"/>
              <a:t>a description of the </a:t>
            </a:r>
            <a:r>
              <a:rPr lang="en-US" i="1" u="sng"/>
              <a:t>cause</a:t>
            </a:r>
            <a:r>
              <a:rPr lang="en-US" i="1"/>
              <a:t> of the error </a:t>
            </a:r>
            <a:r>
              <a:rPr lang="en-US" i="1" u="sng"/>
              <a:t>in your own words</a:t>
            </a:r>
            <a:endParaRPr/>
          </a:p>
          <a:p>
            <a:pPr marL="1257300" lvl="2" indent="-342900">
              <a:buFont typeface="+mj-lt"/>
              <a:buAutoNum type="arabicPeriod"/>
              <a:defRPr/>
            </a:pPr>
            <a:r>
              <a:rPr lang="en-US" i="1"/>
              <a:t>a new line of Java that fixes the problem</a:t>
            </a:r>
            <a:endParaRPr/>
          </a:p>
          <a:p>
            <a:pPr lvl="1">
              <a:defRPr/>
            </a:pPr>
            <a:r>
              <a:rPr lang="en-US"/>
              <a:t>then start this process over again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053746" name="Title 1"/>
          <p:cNvSpPr>
            <a:spLocks noGrp="1"/>
          </p:cNvSpPr>
          <p:nvPr>
            <p:ph type="title"/>
          </p:nvPr>
        </p:nvSpPr>
        <p:spPr bwMode="auto">
          <a:xfrm>
            <a:off x="1141410" y="161863"/>
            <a:ext cx="9905998" cy="1478570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Rockwell"/>
              </a:rPr>
              <a:t>Finding and fixing </a:t>
            </a:r>
            <a:br>
              <a:rPr lang="en-US" sz="3600">
                <a:latin typeface="Rockwell"/>
              </a:rPr>
            </a:br>
            <a:r>
              <a:rPr lang="en-US" sz="3600">
                <a:latin typeface="Rockwell"/>
              </a:rPr>
              <a:t>Logical errors (Bugs)</a:t>
            </a:r>
            <a:endParaRPr lang="en-US"/>
          </a:p>
        </p:txBody>
      </p:sp>
      <p:sp>
        <p:nvSpPr>
          <p:cNvPr id="12640086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1967948"/>
            <a:ext cx="6433546" cy="3823252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/>
              <a:t>Logical errors (bugs) mean that the program compiled and ran, but didn’t do what we wanted it to.</a:t>
            </a:r>
            <a:endParaRPr/>
          </a:p>
          <a:p>
            <a:pPr>
              <a:defRPr/>
            </a:pPr>
            <a:r>
              <a:rPr lang="en-US"/>
              <a:t>You’ll know what the program should do from two main sources:</a:t>
            </a:r>
            <a:endParaRPr/>
          </a:p>
          <a:p>
            <a:pPr lvl="1">
              <a:defRPr/>
            </a:pPr>
            <a:r>
              <a:rPr lang="en-US"/>
              <a:t>Instructions / directions for the assignment / in class exercise / </a:t>
            </a:r>
            <a:r>
              <a:rPr lang="en-US"/>
              <a:t>etc</a:t>
            </a:r>
            <a:endParaRPr lang="en-US"/>
          </a:p>
          <a:p>
            <a:pPr lvl="1">
              <a:defRPr/>
            </a:pPr>
            <a:r>
              <a:rPr lang="en-US"/>
              <a:t>Comments in the code itself</a:t>
            </a:r>
            <a:endParaRPr/>
          </a:p>
          <a:p>
            <a:pPr>
              <a:defRPr/>
            </a:pPr>
            <a:r>
              <a:rPr lang="en-US"/>
              <a:t>Example: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738112421" name="Picture 4"/>
          <p:cNvPicPr>
            <a:picLocks noChangeAspect="1"/>
          </p:cNvPicPr>
          <p:nvPr/>
        </p:nvPicPr>
        <p:blipFill rotWithShape="1">
          <a:blip r:embed="rId3"/>
          <a:srcRect l="0" t="0" r="44314" b="11302"/>
          <a:stretch/>
        </p:blipFill>
        <p:spPr bwMode="auto">
          <a:xfrm>
            <a:off x="7574956" y="3429000"/>
            <a:ext cx="4617044" cy="3429000"/>
          </a:xfrm>
          <a:prstGeom prst="rect">
            <a:avLst/>
          </a:prstGeom>
        </p:spPr>
      </p:pic>
      <p:cxnSp>
        <p:nvCxnSpPr>
          <p:cNvPr id="1519568988" name="Straight Arrow Connector 7"/>
          <p:cNvCxnSpPr/>
          <p:nvPr/>
        </p:nvCxnSpPr>
        <p:spPr bwMode="auto">
          <a:xfrm flipV="1">
            <a:off x="2683565" y="5068957"/>
            <a:ext cx="5794513" cy="25841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2767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>
                <a:latin typeface="Rockwell"/>
              </a:rPr>
              <a:t>Finding and fixing </a:t>
            </a:r>
            <a:br>
              <a:rPr lang="en-US" sz="3600">
                <a:latin typeface="Rockwell"/>
              </a:rPr>
            </a:br>
            <a:r>
              <a:rPr lang="en-US" sz="3600">
                <a:latin typeface="Rockwell"/>
              </a:rPr>
              <a:t>Logical errors (Bugs)</a:t>
            </a:r>
            <a:endParaRPr lang="en-US"/>
          </a:p>
        </p:txBody>
      </p:sp>
      <p:sp>
        <p:nvSpPr>
          <p:cNvPr id="88630702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2249486"/>
            <a:ext cx="9905998" cy="3541714"/>
          </a:xfrm>
        </p:spPr>
        <p:txBody>
          <a:bodyPr/>
          <a:lstStyle/>
          <a:p>
            <a:pPr>
              <a:defRPr/>
            </a:pPr>
            <a:r>
              <a:rPr lang="en-US"/>
              <a:t>Logical errors (bugs) mean that the program compiled and ran, but didn’t do what we wanted it to.</a:t>
            </a:r>
            <a:endParaRPr/>
          </a:p>
          <a:p>
            <a:pPr>
              <a:defRPr/>
            </a:pPr>
            <a:r>
              <a:rPr lang="en-US"/>
              <a:t>You’ll know what the program should do from two main sources:</a:t>
            </a:r>
            <a:endParaRPr/>
          </a:p>
          <a:p>
            <a:pPr lvl="1">
              <a:defRPr/>
            </a:pPr>
            <a:r>
              <a:rPr lang="en-US"/>
              <a:t>Instructions / directions for the assignment / in class exercise / </a:t>
            </a:r>
            <a:r>
              <a:rPr lang="en-US"/>
              <a:t>etc</a:t>
            </a:r>
            <a:endParaRPr lang="en-US"/>
          </a:p>
          <a:p>
            <a:pPr lvl="1">
              <a:defRPr/>
            </a:pPr>
            <a:r>
              <a:rPr lang="en-US"/>
              <a:t>Comments in the code itself</a:t>
            </a:r>
            <a:endParaRPr/>
          </a:p>
          <a:p>
            <a:pPr>
              <a:defRPr/>
            </a:pPr>
            <a:r>
              <a:rPr lang="en-US"/>
              <a:t>Example: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2113091595" name="Picture 5"/>
          <p:cNvPicPr>
            <a:picLocks noChangeAspect="1"/>
          </p:cNvPicPr>
          <p:nvPr/>
        </p:nvPicPr>
        <p:blipFill rotWithShape="1">
          <a:blip r:embed="rId3"/>
          <a:srcRect l="1712" t="844" r="31765" b="-1"/>
          <a:stretch/>
        </p:blipFill>
        <p:spPr bwMode="auto">
          <a:xfrm>
            <a:off x="2700130" y="4696917"/>
            <a:ext cx="9670774" cy="2188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163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>
                <a:latin typeface="Rockwell"/>
              </a:rPr>
              <a:t>Finding and fixing </a:t>
            </a:r>
            <a:br>
              <a:rPr lang="en-US" sz="3600">
                <a:latin typeface="Rockwell"/>
              </a:rPr>
            </a:br>
            <a:r>
              <a:rPr lang="en-US" sz="3600">
                <a:latin typeface="Rockwell"/>
              </a:rPr>
              <a:t>Logical errors (Bugs) –advice</a:t>
            </a:r>
            <a:endParaRPr lang="en-US"/>
          </a:p>
        </p:txBody>
      </p:sp>
      <p:sp>
        <p:nvSpPr>
          <p:cNvPr id="19376712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09" y="1828800"/>
            <a:ext cx="10091449" cy="5029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FFFF00"/>
                </a:solidFill>
              </a:rPr>
              <a:t>Algorithm</a:t>
            </a:r>
            <a:r>
              <a:rPr lang="en-US"/>
              <a:t>: </a:t>
            </a:r>
            <a:endParaRPr/>
          </a:p>
          <a:p>
            <a:pPr lvl="1">
              <a:defRPr/>
            </a:pPr>
            <a:r>
              <a:rPr lang="en-US"/>
              <a:t>Once you’ve fixed the syntax errors, run the program and see what it does.  </a:t>
            </a:r>
            <a:endParaRPr/>
          </a:p>
          <a:p>
            <a:pPr lvl="1">
              <a:defRPr/>
            </a:pPr>
            <a:r>
              <a:rPr lang="en-US"/>
              <a:t>Next, go back to the directions and read them closely while re-running the program.  Make sure that the program follows the directions.</a:t>
            </a:r>
            <a:endParaRPr/>
          </a:p>
          <a:p>
            <a:pPr lvl="2">
              <a:defRPr/>
            </a:pPr>
            <a:r>
              <a:rPr lang="en-US"/>
              <a:t>Any time that you find that the program does not follow the directions, you should</a:t>
            </a:r>
            <a:br>
              <a:rPr lang="en-US"/>
            </a:br>
            <a:r>
              <a:rPr lang="en-US"/>
              <a:t>write down the line number that CAUSES the problem, describe the cause of the error in your own words, AND write down a new line of Java that fixes the problem.</a:t>
            </a:r>
            <a:endParaRPr/>
          </a:p>
          <a:p>
            <a:pPr lvl="1">
              <a:defRPr/>
            </a:pPr>
            <a:r>
              <a:rPr lang="en-US"/>
              <a:t>Next, go back to the program source code and read the comments closely , while re-running the program. </a:t>
            </a:r>
            <a:br>
              <a:rPr lang="en-US"/>
            </a:br>
            <a:r>
              <a:rPr lang="en-US"/>
              <a:t>Make sure that the program follows the comments.</a:t>
            </a:r>
            <a:endParaRPr/>
          </a:p>
          <a:p>
            <a:pPr lvl="2">
              <a:defRPr/>
            </a:pPr>
            <a:r>
              <a:rPr lang="en-US"/>
              <a:t>Any time that you find that the program does not follow the directions, you should</a:t>
            </a:r>
            <a:br>
              <a:rPr lang="en-US"/>
            </a:br>
            <a:r>
              <a:rPr lang="en-US"/>
              <a:t>write down the line number, the cause of the error in your own words, and a fix for the problem.</a:t>
            </a:r>
            <a:endParaRPr/>
          </a:p>
          <a:p>
            <a:pPr lvl="2"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048612" name="Title 1"/>
          <p:cNvSpPr>
            <a:spLocks noGrp="1"/>
          </p:cNvSpPr>
          <p:nvPr>
            <p:ph type="title"/>
          </p:nvPr>
        </p:nvSpPr>
        <p:spPr bwMode="auto">
          <a:xfrm>
            <a:off x="700489" y="-297655"/>
            <a:ext cx="10515600" cy="1325562"/>
          </a:xfrm>
        </p:spPr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Quick Example:</a:t>
            </a:r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1076774402" name="Table 5"/>
          <p:cNvGraphicFramePr>
            <a:graphicFrameLocks xmlns:a="http://schemas.openxmlformats.org/drawingml/2006/main" noGrp="1"/>
          </p:cNvGraphicFramePr>
          <p:nvPr>
            <p:ph sz="half" idx="1"/>
          </p:nvPr>
        </p:nvGraphicFramePr>
        <p:xfrm rot="0">
          <a:off x="125136" y="365125"/>
          <a:ext cx="5970864" cy="36321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86791"/>
                <a:gridCol w="5435421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600"/>
                        <a:t>Line #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Java Code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 1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// Code to demonstrate 'find and fix'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 2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class Main {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 3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  public static void main(String[]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args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) {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4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     // First, we should print a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weclome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 message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5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     // Let's use "Welcome To IT-CS 115" as our message: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6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    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System.out.println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("Hello world!");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7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ourier New"/>
                          <a:ea typeface="+mn-ea"/>
                          <a:cs typeface="Courier New"/>
                        </a:rPr>
                        <a:t> }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endParaRPr sz="1200" b="1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marL="0" indent="0">
                        <a:buFont typeface="+mj-lt"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46549441" name="Table 6"/>
          <p:cNvGraphicFramePr>
            <a:graphicFrameLocks xmlns:a="http://schemas.openxmlformats.org/drawingml/2006/main" noGrp="1"/>
          </p:cNvGraphicFramePr>
          <p:nvPr>
            <p:ph sz="half" idx="2"/>
          </p:nvPr>
        </p:nvGraphicFramePr>
        <p:xfrm rot="0">
          <a:off x="2904578" y="3079272"/>
          <a:ext cx="5687736" cy="20269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{284E427A-3D55-4303-BF80-6455036E1DE7}</a:tableStyleId>
              </a:tblPr>
              <a:tblGrid>
                <a:gridCol w="990000"/>
                <a:gridCol w="3380795"/>
                <a:gridCol w="4775499"/>
              </a:tblGrid>
              <a:tr h="37084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/>
                        <a:t>Line #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Error Description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Fixed Java Code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0"/>
                        <a:t>Missing }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latin typeface="Courier New"/>
                          <a:cs typeface="Courier New"/>
                        </a:rPr>
                        <a:t>}</a:t>
                      </a:r>
                      <a:endParaRPr b="1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0"/>
                        <a:t>Comment on lines 3, 4 says that we should print out “Welcome to IT-CS 115”</a:t>
                      </a:r>
                      <a:endParaRPr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1">
                          <a:latin typeface="Courier New"/>
                          <a:cs typeface="Courier New"/>
                        </a:rPr>
                        <a:t>System.out.println</a:t>
                      </a:r>
                      <a:r>
                        <a:rPr lang="en-US" sz="1400" b="1">
                          <a:latin typeface="Courier New"/>
                          <a:cs typeface="Courier New"/>
                        </a:rPr>
                        <a:t>(“Welcome to IT-CS 115”);</a:t>
                      </a:r>
                      <a:endParaRPr b="1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5078937" name="TextBox 2"/>
          <p:cNvSpPr txBox="1"/>
          <p:nvPr/>
        </p:nvSpPr>
        <p:spPr bwMode="auto">
          <a:xfrm>
            <a:off x="1072557" y="5337541"/>
            <a:ext cx="10312723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The order doesn’t matter (you do NOT have to arrange by increasing line number)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Write down whatever line number you see when you fix the error</a:t>
            </a:r>
            <a:endParaRPr>
              <a:solidFill>
                <a:schemeClr val="tx1"/>
              </a:solidFill>
            </a:endParaRPr>
          </a:p>
          <a:p>
            <a:pPr marL="685800" lvl="1" indent="-285750"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Even if you add lines, remove lines, etc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912654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5400">
                <a:latin typeface="Rockwell"/>
              </a:rPr>
              <a:t>Variables &amp; Expressions</a:t>
            </a:r>
            <a:endParaRPr/>
          </a:p>
        </p:txBody>
      </p:sp>
      <p:sp>
        <p:nvSpPr>
          <p:cNvPr id="1977349385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2400" u="sng">
                <a:latin typeface="Tahoma"/>
                <a:ea typeface="Tahoma"/>
                <a:cs typeface="Tahoma"/>
                <a:hlinkClick r:id="rId3" tooltip=""/>
              </a:rPr>
              <a:t>Bloom’s Taxonomy: Understanding</a:t>
            </a:r>
            <a:endParaRPr lang="en-US" sz="2400">
              <a:latin typeface="Tahoma"/>
              <a:ea typeface="Tahoma"/>
              <a:cs typeface="Tahoma"/>
            </a:endParaRPr>
          </a:p>
          <a:p>
            <a:pPr algn="ctr">
              <a:defRPr/>
            </a:pPr>
            <a:r>
              <a:rPr lang="en-US" sz="2400">
                <a:latin typeface="Tahoma"/>
                <a:ea typeface="Tahoma"/>
                <a:cs typeface="Tahoma"/>
              </a:rPr>
              <a:t>Textbook notes</a:t>
            </a:r>
            <a:endParaRPr/>
          </a:p>
          <a:p>
            <a:pPr algn="ctr">
              <a:defRPr/>
            </a:pPr>
            <a:r>
              <a:rPr lang="en-US" sz="2400">
                <a:latin typeface="Tahoma"/>
                <a:ea typeface="Tahoma"/>
                <a:cs typeface="Tahoma"/>
              </a:rPr>
              <a:t>(For use in lecture? Maybe?)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977716" name="Title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774054"/>
          </a:xfrm>
        </p:spPr>
        <p:txBody>
          <a:bodyPr/>
          <a:lstStyle/>
          <a:p>
            <a:pPr>
              <a:defRPr/>
            </a:pPr>
            <a:r>
              <a:rPr lang="en-US" u="sng">
                <a:hlinkClick r:id="rId3" tooltip=""/>
              </a:rPr>
              <a:t>Notes From The Text (Chapter 1)</a:t>
            </a:r>
            <a:endParaRPr lang="en-US"/>
          </a:p>
        </p:txBody>
      </p:sp>
      <p:sp>
        <p:nvSpPr>
          <p:cNvPr id="13592757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1392573"/>
            <a:ext cx="4878389" cy="52515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Java is case sensitive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Main, main, and </a:t>
            </a:r>
            <a:r>
              <a:rPr lang="en-US" i="1"/>
              <a:t>MaIn</a:t>
            </a:r>
            <a:r>
              <a:rPr lang="en-US" i="1"/>
              <a:t> are all different</a:t>
            </a:r>
            <a:endParaRPr/>
          </a:p>
          <a:p>
            <a:pPr>
              <a:defRPr/>
            </a:pPr>
            <a:r>
              <a:rPr lang="en-US"/>
              <a:t>{ }  group things together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 Is you see { then look for the matching }</a:t>
            </a:r>
            <a:endParaRPr/>
          </a:p>
          <a:p>
            <a:pPr>
              <a:defRPr/>
            </a:pPr>
            <a:r>
              <a:rPr lang="en-US"/>
              <a:t>// is a comment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Everything after it on that line is ignored by Java.  We use it to leave ourselves notes about what the program does, and how it does it</a:t>
            </a:r>
            <a:endParaRPr/>
          </a:p>
          <a:p>
            <a:pPr>
              <a:defRPr/>
            </a:pPr>
            <a:r>
              <a:rPr lang="en-US"/>
              <a:t>All statements end with ;</a:t>
            </a:r>
            <a:endParaRPr/>
          </a:p>
          <a:p>
            <a:pPr>
              <a:buFont typeface="Wingdings"/>
              <a:buChar char="Ø"/>
              <a:defRPr/>
            </a:pPr>
            <a:endParaRPr lang="en-US" i="1"/>
          </a:p>
          <a:p>
            <a:pPr>
              <a:defRPr/>
            </a:pPr>
            <a:endParaRPr lang="en-US"/>
          </a:p>
        </p:txBody>
      </p:sp>
      <p:sp>
        <p:nvSpPr>
          <p:cNvPr id="546331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392572"/>
            <a:ext cx="5882780" cy="52515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You need at least one space between words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Ok:  public static void main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Error:  </a:t>
            </a:r>
            <a:r>
              <a:rPr lang="en-US" i="1"/>
              <a:t>publicstaticvoidmain</a:t>
            </a:r>
            <a:endParaRPr lang="en-US" i="1"/>
          </a:p>
          <a:p>
            <a:pPr>
              <a:defRPr/>
            </a:pPr>
            <a:r>
              <a:rPr lang="en-US"/>
              <a:t>Newlines are optional, but helpful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Legal but bad:</a:t>
            </a:r>
            <a:br>
              <a:rPr lang="en-US" i="1"/>
            </a:br>
            <a:r>
              <a:rPr lang="en-US" i="1"/>
              <a:t>System.out.print</a:t>
            </a:r>
            <a:r>
              <a:rPr lang="en-US" i="1"/>
              <a:t>("Goodbye, ");</a:t>
            </a:r>
            <a:r>
              <a:rPr lang="en-US" i="1"/>
              <a:t>System.out.println</a:t>
            </a:r>
            <a:r>
              <a:rPr lang="en-US" i="1"/>
              <a:t> ("cruel world");</a:t>
            </a:r>
            <a:endParaRPr/>
          </a:p>
          <a:p>
            <a:pPr lvl="1">
              <a:buFont typeface="Wingdings"/>
              <a:buChar char="Ø"/>
              <a:defRPr/>
            </a:pPr>
            <a:r>
              <a:rPr lang="en-US" i="1"/>
              <a:t>Legal and good: </a:t>
            </a:r>
            <a:br>
              <a:rPr lang="en-US" i="1"/>
            </a:br>
            <a:r>
              <a:rPr lang="en-US" i="1"/>
              <a:t>System.out.print</a:t>
            </a:r>
            <a:r>
              <a:rPr lang="en-US" i="1"/>
              <a:t>("Goodbye, ");</a:t>
            </a:r>
            <a:br>
              <a:rPr lang="en-US" i="1"/>
            </a:br>
            <a:r>
              <a:rPr lang="en-US" i="1"/>
              <a:t>System.out.println</a:t>
            </a:r>
            <a:r>
              <a:rPr lang="en-US" i="1"/>
              <a:t>("cruel world");</a:t>
            </a:r>
            <a:endParaRPr/>
          </a:p>
          <a:p>
            <a:pPr>
              <a:defRPr/>
            </a:pPr>
            <a:r>
              <a:rPr lang="en-US"/>
              <a:t>Escape sequences in strings:</a:t>
            </a:r>
            <a:endParaRPr/>
          </a:p>
          <a:p>
            <a:pPr lvl="1">
              <a:defRPr/>
            </a:pPr>
            <a:r>
              <a:rPr lang="en-US" i="1"/>
              <a:t>\n   \t  \”   \\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28050" name="Title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774054"/>
          </a:xfrm>
        </p:spPr>
        <p:txBody>
          <a:bodyPr/>
          <a:lstStyle/>
          <a:p>
            <a:pPr>
              <a:defRPr/>
            </a:pPr>
            <a:r>
              <a:rPr lang="en-US" u="sng">
                <a:hlinkClick r:id="rId3" tooltip=""/>
              </a:rPr>
              <a:t>Notes From The Text (Chapter 2)</a:t>
            </a:r>
            <a:endParaRPr lang="en-US"/>
          </a:p>
        </p:txBody>
      </p:sp>
      <p:sp>
        <p:nvSpPr>
          <p:cNvPr id="20899371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1392573"/>
            <a:ext cx="4878389" cy="52515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Variables names</a:t>
            </a:r>
            <a:endParaRPr/>
          </a:p>
          <a:p>
            <a:pPr lvl="1">
              <a:defRPr/>
            </a:pPr>
            <a:r>
              <a:rPr lang="en-US"/>
              <a:t>Camel case is a convention, not a rule</a:t>
            </a:r>
            <a:endParaRPr/>
          </a:p>
          <a:p>
            <a:pPr lvl="1">
              <a:defRPr/>
            </a:pPr>
            <a:r>
              <a:rPr lang="en-US"/>
              <a:t>No using </a:t>
            </a:r>
            <a:r>
              <a:rPr lang="en-US" u="sng">
                <a:hlinkClick r:id="rId4" tooltip=""/>
              </a:rPr>
              <a:t>Java reserved words / keywords</a:t>
            </a:r>
            <a:endParaRPr lang="en-US"/>
          </a:p>
          <a:p>
            <a:pPr>
              <a:defRPr/>
            </a:pPr>
            <a:r>
              <a:rPr lang="en-US"/>
              <a:t>Assignment</a:t>
            </a:r>
            <a:endParaRPr/>
          </a:p>
          <a:p>
            <a:pPr lvl="1">
              <a:defRPr/>
            </a:pPr>
            <a:r>
              <a:rPr lang="en-US"/>
              <a:t>New value replaces the old / existing one</a:t>
            </a:r>
            <a:endParaRPr/>
          </a:p>
          <a:p>
            <a:pPr lvl="1">
              <a:defRPr/>
            </a:pPr>
            <a:r>
              <a:rPr lang="en-US"/>
              <a:t>Must match types</a:t>
            </a:r>
            <a:endParaRPr/>
          </a:p>
          <a:p>
            <a:pPr>
              <a:defRPr/>
            </a:pPr>
            <a:r>
              <a:rPr lang="en-US"/>
              <a:t>Printing variables</a:t>
            </a:r>
            <a:endParaRPr/>
          </a:p>
          <a:p>
            <a:pPr lvl="1">
              <a:defRPr/>
            </a:pPr>
            <a:r>
              <a:rPr lang="en-US"/>
              <a:t>println</a:t>
            </a:r>
            <a:r>
              <a:rPr lang="en-US"/>
              <a:t> vs. print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7666731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392572"/>
            <a:ext cx="4875211" cy="52515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Arithmetic operators</a:t>
            </a:r>
            <a:endParaRPr/>
          </a:p>
          <a:p>
            <a:pPr lvl="1">
              <a:defRPr/>
            </a:pPr>
            <a:r>
              <a:rPr lang="en-US"/>
              <a:t>These do NOT change variables </a:t>
            </a:r>
            <a:br>
              <a:rPr lang="en-US"/>
            </a:br>
            <a:r>
              <a:rPr lang="en-US"/>
              <a:t>(unless there’s a = )</a:t>
            </a:r>
            <a:endParaRPr/>
          </a:p>
          <a:p>
            <a:pPr lvl="1">
              <a:defRPr/>
            </a:pPr>
            <a:r>
              <a:rPr lang="en-US"/>
              <a:t>Variables are substituted/replaced, then expression is evaluated</a:t>
            </a:r>
            <a:endParaRPr/>
          </a:p>
          <a:p>
            <a:pPr lvl="1">
              <a:defRPr/>
            </a:pPr>
            <a:r>
              <a:rPr lang="en-US"/>
              <a:t>Variables are replaced with the current value</a:t>
            </a:r>
            <a:endParaRPr/>
          </a:p>
          <a:p>
            <a:pPr lvl="1">
              <a:defRPr/>
            </a:pPr>
            <a:r>
              <a:rPr lang="en-US"/>
              <a:t>Integer division</a:t>
            </a:r>
            <a:endParaRPr/>
          </a:p>
          <a:p>
            <a:pPr lvl="1">
              <a:defRPr/>
            </a:pPr>
            <a:r>
              <a:rPr lang="en-US"/>
              <a:t>PEMDAS</a:t>
            </a:r>
            <a:endParaRPr/>
          </a:p>
          <a:p>
            <a:pPr lvl="1">
              <a:defRPr/>
            </a:pPr>
            <a:r>
              <a:rPr lang="en-US"/>
              <a:t>Left to right associativity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254905" name="Title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774054"/>
          </a:xfrm>
        </p:spPr>
        <p:txBody>
          <a:bodyPr/>
          <a:lstStyle/>
          <a:p>
            <a:pPr>
              <a:defRPr/>
            </a:pPr>
            <a:r>
              <a:rPr lang="en-US"/>
              <a:t>Notes From The Text, Part 2</a:t>
            </a:r>
            <a:endParaRPr/>
          </a:p>
        </p:txBody>
      </p:sp>
      <p:sp>
        <p:nvSpPr>
          <p:cNvPr id="21520319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1392573"/>
            <a:ext cx="4878389" cy="52515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Floating point numbers</a:t>
            </a:r>
            <a:endParaRPr/>
          </a:p>
          <a:p>
            <a:pPr lvl="1">
              <a:defRPr/>
            </a:pPr>
            <a:r>
              <a:rPr lang="en-US"/>
              <a:t>Can’t assign to ints</a:t>
            </a:r>
            <a:endParaRPr/>
          </a:p>
          <a:p>
            <a:pPr>
              <a:defRPr/>
            </a:pPr>
            <a:r>
              <a:rPr lang="en-US"/>
              <a:t>Rounding errors</a:t>
            </a:r>
            <a:endParaRPr/>
          </a:p>
          <a:p>
            <a:pPr lvl="1">
              <a:defRPr/>
            </a:pPr>
            <a:r>
              <a:rPr lang="en-US"/>
              <a:t>Know they exist, but you don’t have to be able to predict them</a:t>
            </a:r>
            <a:endParaRPr/>
          </a:p>
          <a:p>
            <a:pPr>
              <a:defRPr/>
            </a:pPr>
            <a:r>
              <a:rPr lang="en-US"/>
              <a:t>Strings</a:t>
            </a:r>
            <a:endParaRPr/>
          </a:p>
          <a:p>
            <a:pPr lvl="1">
              <a:defRPr/>
            </a:pPr>
            <a:r>
              <a:rPr lang="en-US"/>
              <a:t>+ is defined (it’s concatenation)</a:t>
            </a:r>
            <a:endParaRPr/>
          </a:p>
          <a:p>
            <a:pPr lvl="1">
              <a:defRPr/>
            </a:pPr>
            <a:r>
              <a:rPr lang="en-US"/>
              <a:t>The other arithmetic operators aren’t defined on strings ( * ,  / , </a:t>
            </a:r>
            <a:r>
              <a:rPr lang="en-US"/>
              <a:t>etc</a:t>
            </a:r>
            <a:r>
              <a:rPr lang="en-US"/>
              <a:t>)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5801595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392572"/>
            <a:ext cx="4875211" cy="52515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Errors</a:t>
            </a:r>
            <a:endParaRPr/>
          </a:p>
          <a:p>
            <a:pPr lvl="1">
              <a:defRPr/>
            </a:pPr>
            <a:r>
              <a:rPr lang="en-US"/>
              <a:t>Syntax / Compile-time errors</a:t>
            </a:r>
            <a:endParaRPr/>
          </a:p>
          <a:p>
            <a:pPr lvl="1">
              <a:defRPr/>
            </a:pPr>
            <a:r>
              <a:rPr lang="en-US"/>
              <a:t>Run-time: program crashes</a:t>
            </a:r>
            <a:endParaRPr/>
          </a:p>
          <a:p>
            <a:pPr lvl="1">
              <a:defRPr/>
            </a:pPr>
            <a:r>
              <a:rPr lang="en-US"/>
              <a:t>Logic error – program runs, but doesn’t do what we want it to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Circuit">
      <a:fillStyleLst>
        <a:solidFill>
          <a:schemeClr val="phClr"/>
        </a:solidFill>
        <a:gradFill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 rotWithShape="1">
          <a:blip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E7866CFD-F94E-4AE5-ACEA-86FEC0F48A10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B579702B-25C7-40D7-9E29-7686B11A9660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A7C0B241-13E5-418D-8920-D23491E2D2C0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and Fix Errors In Java Source Code</dc:title>
  <dc:creator>Michael Panitz</dc:creator>
  <cp:lastModifiedBy/>
  <cp:revision>30</cp:revision>
  <dcterms:created xsi:type="dcterms:W3CDTF">2021-07-05T04:58:13Z</dcterms:created>
  <dcterms:modified xsi:type="dcterms:W3CDTF">2026-06-29T02:53:16Z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