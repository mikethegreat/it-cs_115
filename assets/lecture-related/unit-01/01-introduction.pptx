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theme/theme5.xml" ContentType="application/vnd.openxmlformats-officedocument.them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38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59" r:id="rId2"/>
    <p:sldMasterId id="2147483670" r:id="rId3"/>
    <p:sldMasterId id="2147483681" r:id="rId4"/>
  </p:sldMasterIdLst>
  <p:notesMasterIdLst>
    <p:notesMasterId r:id="rId21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940" y="68"/>
      </p:cViewPr>
      <p:guideLst>
        <p:guide pos="162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theme" Target="theme/theme4.xml"/><Relationship Id="rId9" Type="http://schemas.openxmlformats.org/officeDocument/2006/relationships/theme" Target="theme/them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001758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7073557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994360" name="Google Shape;104;p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3675751" name="Google Shape;105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242489" name="Google Shape;125;p4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7239419" name="Google Shape;126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98554" name="Google Shape;132;p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6137943" name="Google Shape;133;p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76843" name="Google Shape;139;p6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0806113" y="5930900"/>
            <a:ext cx="28470226" cy="160147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5469615" name="Google Shape;140;p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22835286"/>
            <a:ext cx="5486400" cy="186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endParaRPr/>
          </a:p>
        </p:txBody>
      </p:sp>
      <p:sp>
        <p:nvSpPr>
          <p:cNvPr id="1393772922" name="Google Shape;141;p6:notes"/>
          <p:cNvSpPr txBox="1">
            <a:spLocks noGrp="1"/>
          </p:cNvSpPr>
          <p:nvPr>
            <p:ph type="sldNum" idx="12"/>
          </p:nvPr>
        </p:nvSpPr>
        <p:spPr bwMode="auto">
          <a:xfrm>
            <a:off x="3884613" y="45069213"/>
            <a:ext cx="2971800" cy="238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602904" name="Google Shape;175;g320ca67c64f_0_23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562858" name="Google Shape;176;g320ca67c64f_0_23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69943" name="Google Shape;205;g320ca67c64f_0_259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886719" name="Google Shape;206;g320ca67c64f_0_25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00508" name="Google Shape;212;g320ca67c64f_0_26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627833" name="Google Shape;213;g320ca67c64f_0_26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069586" name="Google Shape;174;g2f6e17132a5_0_85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689169" name="Google Shape;175;g2f6e17132a5_0_8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0216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093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48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86B6BE-D31A-F4A9-FE90-534858F46D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618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3619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25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76508D-AA30-11C7-91A4-99F9166FC9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84385" name="Google Shape;512;g32a7fc5f463_1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0022610" name="Google Shape;513;g32a7fc5f463_1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pPr>
            <a:r>
              <a:rPr lang="en"/>
              <a:t>Start next class going over find and fix errors able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 2" preserve="0" showMasterPhAnim="0" showMasterSp="1" userDrawn="1">
  <p:cSld name="TITLE_AND_BODY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708721" name="Google Shape;10;p50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1373077" name="Google Shape;11;p5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7459257" name="Google Shape;12;p5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193589" name="Google Shape;14;p51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363343883" name="Google Shape;15;p51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63340785" name="Google Shape;16;p51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" preserve="0" showMasterPhAnim="0" showMasterSp="1" userDrawn="1">
  <p:cSld name="TITLE_AND_BODY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926809" name="Google Shape;18;p52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6326890" name="Google Shape;19;p52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575985" name="Google Shape;20;p5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731708" name="Google Shape;25;p54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6463193" name="Google Shape;26;p54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5850938" name="Google Shape;27;p54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" preserve="0" showMasterPhAnim="0" showMasterSp="1" userDrawn="1">
  <p:cSld name="TITLE_AND_BODY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890549" name="Google Shape;29;p55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3479053" name="Google Shape;30;p55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8829899" name="Google Shape;31;p5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; Previously" preserve="0" showMasterPhAnim="0" showMasterSp="1" userDrawn="1">
  <p:cSld name="TITLE_AND_BODY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834268" name="Google Shape;33;p56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51167221" name="Google Shape;34;p56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7981508" name="Google Shape;35;p56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" sz="1800" b="1" i="1" u="none" strike="noStrike" cap="none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 u="none" strike="noStrike" cap="none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6865506" name="Google Shape;36;p5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481024" name="Google Shape;38;p57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226002502" name="Google Shape;39;p5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28578" name="Google Shape;41;p58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82044076" name="Google Shape;42;p5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641542" name="Google Shape;44;p5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; Previously" preserve="0" showMasterPhAnim="0" showMasterSp="1" userDrawn="1">
  <p:cSld name="TITLE_AND_BODY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442773" name="Google Shape;46;p60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8675727" name="Google Shape;47;p6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4068796" name="Google Shape;48;p60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en" sz="1800" b="1" i="1" u="none" strike="noStrike" cap="none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 u="none" strike="noStrike" cap="none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657656021" name="Google Shape;49;p60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398943" name="Google Shape;55;g320ca67c64f_0_413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581640630" name="Google Shape;56;g320ca67c64f_0_413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26468705" name="Google Shape;57;g320ca67c64f_0_41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398660" name="Google Shape;59;g320ca67c64f_0_417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087281927" name="Google Shape;60;g320ca67c64f_0_41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676178" name="Google Shape;62;g320ca67c64f_0_420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30224330" name="Google Shape;63;g320ca67c64f_0_420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1753292" name="Google Shape;64;g320ca67c64f_0_42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" preserve="0" showMasterPhAnim="0" showMasterSp="1" userDrawn="1">
  <p:cSld name="TITLE_AND_BODY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725260" name="Google Shape;66;g320ca67c64f_0_424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0955283" name="Google Shape;67;g320ca67c64f_0_424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618760" name="Google Shape;68;g320ca67c64f_0_424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; Previously" preserve="0" showMasterPhAnim="0" showMasterSp="1" userDrawn="1">
  <p:cSld name="TITLE_AND_BODY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999272" name="Google Shape;70;g320ca67c64f_0_428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9277916" name="Google Shape;71;g320ca67c64f_0_428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8525589" name="Google Shape;72;g320ca67c64f_0_428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58670458" name="Google Shape;73;g320ca67c64f_0_42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010814" name="Google Shape;75;g320ca67c64f_0_433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412834401" name="Google Shape;76;g320ca67c64f_0_43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691426" name="Google Shape;78;g320ca67c64f_0_436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0382901" name="Google Shape;79;g320ca67c64f_0_43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143709" name="Google Shape;81;g320ca67c64f_0_43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 2" preserve="0" showMasterPhAnim="0" showMasterSp="1" userDrawn="1">
  <p:cSld name="TITLE_AND_BODY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983044" name="Google Shape;83;g320ca67c64f_0_441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0310775" name="Google Shape;84;g320ca67c64f_0_441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0450001" name="Google Shape;85;g320ca67c64f_0_441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; Previously" preserve="0" showMasterPhAnim="0" showMasterSp="1" userDrawn="1">
  <p:cSld name="TITLE_AND_BODY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914314" name="Google Shape;91;g320ca67c64f_0_449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5218626" name="Google Shape;92;g320ca67c64f_0_449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3415897" name="Google Shape;93;g320ca67c64f_0_449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91691733" name="Google Shape;94;g320ca67c64f_0_44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 slide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179916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579463067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Encode Sans Condensed"/>
              <a:buNone/>
              <a:defRPr sz="2800"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90773952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 header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922709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502031955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" preserve="0" showMasterPhAnim="0" showMasterSp="1" type="tx" userDrawn="1">
  <p:cSld name="Worksheet Ques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781383" name="Google Shape;17;p4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8109193" name="Google Shape;18;p4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8631566" name="Google Shape;19;p4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" preserve="0" showMasterPhAnim="0" showMasterSp="1" userDrawn="1">
  <p:cSld name="Side Sty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026931" name="Google Shape;21;p5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7926154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2904548" name="Google Shape;23;p5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ide Style; Previously" preserve="0" showMasterPhAnim="0" showMasterSp="1" userDrawn="1">
  <p:cSld name="Side Style; Previous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987006" name="Google Shape;25;p6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7579661" name="Google Shape;26;p6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6640688" name="Google Shape;27;p6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02012809" name="Google Shape;28;p6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 point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255870" name="Google Shape;30;p7"/>
          <p:cNvSpPr txBox="1">
            <a:spLocks noGrp="1"/>
          </p:cNvSpPr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893338594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55460" name="Google Shape;33;p8"/>
          <p:cNvSpPr txBox="1">
            <a:spLocks noGrp="1"/>
          </p:cNvSpPr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1968667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429506" name="Google Shape;36;p9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orksheet Question 2" preserve="0" showMasterPhAnim="0" showMasterSp="1" userDrawn="1">
  <p:cSld name="Worksheet Ques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611221" name="Google Shape;38;p10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5082382" name="Google Shape;39;p1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1715646" name="Google Shape;40;p1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nformation 2; Previously" preserve="0" showMasterPhAnim="0" showMasterSp="1" userDrawn="1">
  <p:cSld name="Information 2; Previous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080386" name="Google Shape;46;p12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4117149" name="Google Shape;47;p12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4484304" name="Google Shape;48;p12"/>
          <p:cNvSpPr txBox="1"/>
          <p:nvPr/>
        </p:nvSpPr>
        <p:spPr bwMode="auto">
          <a:xfrm>
            <a:off x="7364400" y="146175"/>
            <a:ext cx="15510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800" b="1" i="1">
                <a:solidFill>
                  <a:srgbClr val="FF00FF"/>
                </a:solidFill>
                <a:latin typeface="Open Sans"/>
                <a:ea typeface="Open Sans"/>
                <a:cs typeface="Open Sans"/>
              </a:rPr>
              <a:t>Previously…</a:t>
            </a:r>
            <a:endParaRPr sz="1800" b="1" i="1">
              <a:solidFill>
                <a:srgbClr val="FF00FF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39337732" name="Google Shape;49;p1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622946" name="Rectangle 6"/>
          <p:cNvSpPr/>
          <p:nvPr userDrawn="1"/>
        </p:nvSpPr>
        <p:spPr bwMode="auto">
          <a:xfrm flipH="1" flipV="1">
            <a:off x="3790661" y="5906"/>
            <a:ext cx="1682740" cy="5137011"/>
          </a:xfrm>
          <a:prstGeom prst="rect">
            <a:avLst/>
          </a:prstGeom>
          <a:solidFill>
            <a:srgbClr val="6E9A26">
              <a:alpha val="35000"/>
            </a:srgbClr>
          </a:solidFill>
          <a:ln>
            <a:noFill/>
          </a:ln>
        </p:spPr>
      </p:sp>
      <p:sp>
        <p:nvSpPr>
          <p:cNvPr id="2081431194" name="Rectangle 16"/>
          <p:cNvSpPr/>
          <p:nvPr userDrawn="1"/>
        </p:nvSpPr>
        <p:spPr bwMode="auto">
          <a:xfrm flipH="1" flipV="1">
            <a:off x="5000448" y="9675"/>
            <a:ext cx="307563" cy="513382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</p:sp>
      <p:sp>
        <p:nvSpPr>
          <p:cNvPr id="1353087677" name="Rectangle 18"/>
          <p:cNvSpPr/>
          <p:nvPr userDrawn="1"/>
        </p:nvSpPr>
        <p:spPr bwMode="auto">
          <a:xfrm flipH="1" flipV="1">
            <a:off x="3647646" y="5904"/>
            <a:ext cx="789061" cy="5137011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946551818" name="Rectangle 19"/>
          <p:cNvSpPr/>
          <p:nvPr userDrawn="1"/>
        </p:nvSpPr>
        <p:spPr bwMode="auto">
          <a:xfrm flipH="1" flipV="1">
            <a:off x="5715293" y="-5006"/>
            <a:ext cx="289523" cy="5146237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1264230988" name="Rectangle 21"/>
          <p:cNvSpPr/>
          <p:nvPr userDrawn="1"/>
        </p:nvSpPr>
        <p:spPr bwMode="auto">
          <a:xfrm flipH="1" flipV="1">
            <a:off x="4436709" y="5899"/>
            <a:ext cx="195319" cy="5137011"/>
          </a:xfrm>
          <a:prstGeom prst="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</p:sp>
      <p:sp>
        <p:nvSpPr>
          <p:cNvPr id="761759559" name="Rectangle 22"/>
          <p:cNvSpPr/>
          <p:nvPr userDrawn="1"/>
        </p:nvSpPr>
        <p:spPr bwMode="auto">
          <a:xfrm flipH="1" flipV="1">
            <a:off x="1979712" y="5904"/>
            <a:ext cx="789855" cy="5137011"/>
          </a:xfrm>
          <a:prstGeom prst="rect">
            <a:avLst/>
          </a:prstGeom>
          <a:solidFill>
            <a:srgbClr val="6E9A26">
              <a:alpha val="41000"/>
            </a:srgbClr>
          </a:solidFill>
          <a:ln>
            <a:noFill/>
          </a:ln>
        </p:spPr>
      </p:sp>
      <p:sp>
        <p:nvSpPr>
          <p:cNvPr id="807643326" name="Rectangle 24"/>
          <p:cNvSpPr/>
          <p:nvPr userDrawn="1"/>
        </p:nvSpPr>
        <p:spPr bwMode="auto">
          <a:xfrm flipH="1" flipV="1">
            <a:off x="6294344" y="5906"/>
            <a:ext cx="1085965" cy="5137011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</p:sp>
      <p:sp>
        <p:nvSpPr>
          <p:cNvPr id="1538027207" name="Rectangle 26"/>
          <p:cNvSpPr/>
          <p:nvPr userDrawn="1"/>
        </p:nvSpPr>
        <p:spPr bwMode="auto">
          <a:xfrm flipH="1" flipV="1">
            <a:off x="6330051" y="5906"/>
            <a:ext cx="292902" cy="5137011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</p:sp>
      <p:sp>
        <p:nvSpPr>
          <p:cNvPr id="1030598906" name="Rectangle 27"/>
          <p:cNvSpPr/>
          <p:nvPr userDrawn="1"/>
        </p:nvSpPr>
        <p:spPr bwMode="auto">
          <a:xfrm flipH="1" flipV="1">
            <a:off x="3647647" y="5904"/>
            <a:ext cx="286025" cy="5137011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</p:sp>
      <p:sp>
        <p:nvSpPr>
          <p:cNvPr id="2010825508" name="Rectangle 28"/>
          <p:cNvSpPr/>
          <p:nvPr userDrawn="1"/>
        </p:nvSpPr>
        <p:spPr bwMode="auto">
          <a:xfrm flipH="1" flipV="1">
            <a:off x="5313847" y="5904"/>
            <a:ext cx="319110" cy="5137011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</p:sp>
      <p:sp>
        <p:nvSpPr>
          <p:cNvPr id="789021321" name="Rectangle 25"/>
          <p:cNvSpPr/>
          <p:nvPr userDrawn="1"/>
        </p:nvSpPr>
        <p:spPr bwMode="auto">
          <a:xfrm flipH="1" flipV="1">
            <a:off x="2427615" y="-5006"/>
            <a:ext cx="528711" cy="5146237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</p:sp>
      <p:sp>
        <p:nvSpPr>
          <p:cNvPr id="2097131088" name="Rectangle 20"/>
          <p:cNvSpPr/>
          <p:nvPr userDrawn="1"/>
        </p:nvSpPr>
        <p:spPr bwMode="auto">
          <a:xfrm flipH="1" flipV="1">
            <a:off x="3144663" y="5906"/>
            <a:ext cx="425932" cy="5137011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22658999" name="Rectangle 43"/>
          <p:cNvSpPr/>
          <p:nvPr userDrawn="1"/>
        </p:nvSpPr>
        <p:spPr bwMode="auto">
          <a:xfrm flipH="1" flipV="1">
            <a:off x="7022868" y="5904"/>
            <a:ext cx="230253" cy="5137011"/>
          </a:xfrm>
          <a:prstGeom prst="rect">
            <a:avLst/>
          </a:prstGeom>
          <a:solidFill>
            <a:schemeClr val="bg1">
              <a:alpha val="58999"/>
            </a:schemeClr>
          </a:solidFill>
          <a:ln>
            <a:noFill/>
          </a:ln>
        </p:spPr>
      </p:sp>
      <p:sp>
        <p:nvSpPr>
          <p:cNvPr id="360181808" name="Rectangle 45"/>
          <p:cNvSpPr/>
          <p:nvPr userDrawn="1"/>
        </p:nvSpPr>
        <p:spPr bwMode="auto">
          <a:xfrm flipH="1" flipV="1">
            <a:off x="2097439" y="5905"/>
            <a:ext cx="45718" cy="5137011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6720747" name="Rectangle 44"/>
          <p:cNvSpPr/>
          <p:nvPr userDrawn="1"/>
        </p:nvSpPr>
        <p:spPr bwMode="auto">
          <a:xfrm>
            <a:off x="1835695" y="1383617"/>
            <a:ext cx="5832648" cy="2754306"/>
          </a:xfrm>
          <a:prstGeom prst="rect">
            <a:avLst/>
          </a:prstGeom>
          <a:solidFill>
            <a:schemeClr val="bg1"/>
          </a:solidFill>
          <a:ln w="57150" cap="rnd"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1543268432" name="Subtitle 2"/>
          <p:cNvSpPr>
            <a:spLocks noGrp="1"/>
          </p:cNvSpPr>
          <p:nvPr>
            <p:ph type="subTitle" idx="1"/>
          </p:nvPr>
        </p:nvSpPr>
        <p:spPr bwMode="auto">
          <a:xfrm>
            <a:off x="2374639" y="3057803"/>
            <a:ext cx="4648227" cy="864095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cap="none" spc="119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415336336" name="Title 9"/>
          <p:cNvSpPr>
            <a:spLocks noGrp="1"/>
          </p:cNvSpPr>
          <p:nvPr>
            <p:ph type="title"/>
          </p:nvPr>
        </p:nvSpPr>
        <p:spPr bwMode="auto">
          <a:xfrm>
            <a:off x="2386195" y="1653647"/>
            <a:ext cx="4636672" cy="1188131"/>
          </a:xfrm>
        </p:spPr>
        <p:txBody>
          <a:bodyPr>
            <a:normAutofit/>
          </a:bodyPr>
          <a:lstStyle>
            <a:lvl1pPr algn="ctr">
              <a:defRPr sz="4000" cap="small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cxnSp>
        <p:nvCxnSpPr>
          <p:cNvPr id="1210503865" name="Прямая соединительная линия 48"/>
          <p:cNvCxnSpPr/>
          <p:nvPr userDrawn="1"/>
        </p:nvCxnSpPr>
        <p:spPr bwMode="auto">
          <a:xfrm>
            <a:off x="2374639" y="2949791"/>
            <a:ext cx="2159730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822624" name="Овал 50"/>
          <p:cNvSpPr/>
          <p:nvPr userDrawn="1"/>
        </p:nvSpPr>
        <p:spPr bwMode="auto">
          <a:xfrm>
            <a:off x="4629614" y="2922065"/>
            <a:ext cx="72007" cy="54006"/>
          </a:xfrm>
          <a:prstGeom prst="ellipse">
            <a:avLst/>
          </a:prstGeom>
          <a:solidFill>
            <a:srgbClr val="6E9A26"/>
          </a:solidFill>
          <a:ln>
            <a:noFill/>
          </a:ln>
          <a:effectLst/>
        </p:spPr>
      </p:sp>
      <p:cxnSp>
        <p:nvCxnSpPr>
          <p:cNvPr id="572592366" name="Прямая соединительная линия 53"/>
          <p:cNvCxnSpPr/>
          <p:nvPr userDrawn="1"/>
        </p:nvCxnSpPr>
        <p:spPr bwMode="auto">
          <a:xfrm>
            <a:off x="4788023" y="2949068"/>
            <a:ext cx="2253795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38709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2105606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0776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839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308250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412843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474890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1820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1358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897563"/>
            <a:ext cx="7772400" cy="3672407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452637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99408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48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637547902" name="Title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994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70179944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897564"/>
            <a:ext cx="4038598" cy="3697057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339358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199" y="897564"/>
            <a:ext cx="4038598" cy="3697057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4633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6757646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5911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88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967668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51570"/>
            <a:ext cx="4040187" cy="479821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9670737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1545636"/>
            <a:ext cx="4040187" cy="3048985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2397817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951570"/>
            <a:ext cx="4041774" cy="479821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2418228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6" y="1545636"/>
            <a:ext cx="4041774" cy="3048985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27222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36103346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661543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2982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61171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3132564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715664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84986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65422199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35305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467757" name="Content Placeholder 2"/>
          <p:cNvSpPr>
            <a:spLocks noGrp="1"/>
          </p:cNvSpPr>
          <p:nvPr>
            <p:ph idx="1"/>
          </p:nvPr>
        </p:nvSpPr>
        <p:spPr bwMode="auto">
          <a:xfrm>
            <a:off x="3575049" y="897564"/>
            <a:ext cx="5111749" cy="369705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258497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897563"/>
            <a:ext cx="3008313" cy="3697058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057243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155246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3761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569492319" name="Title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41472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7" y="897563"/>
            <a:ext cx="5486400" cy="25922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243031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7" y="3651869"/>
            <a:ext cx="5486400" cy="9772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3949279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17777991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9259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576580823" name="Title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0906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1133688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426022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2996679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132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2847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05978"/>
            <a:ext cx="2057400" cy="4388643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306582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05978"/>
            <a:ext cx="6019799" cy="4388643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18600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1724540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4654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285674" name="Google Shape;6;p49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80295328" name="Google Shape;7;p49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914400" marR="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1371600" marR="0" lvl="2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1828800" marR="0" lvl="3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2286000" marR="0" lvl="4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2743200" marR="0" lvl="5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3200400" marR="0" lvl="6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3657600" marR="0" lvl="7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4114800" marR="0" lvl="8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38575915" name="Google Shape;8;p49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890472" name="Google Shape;51;g320ca67c64f_0_409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20620095" name="Google Shape;52;g320ca67c64f_0_409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914400" lvl="1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1371600" lvl="2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1828800" lvl="3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2286000" lvl="4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2743200" lvl="5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3200400" lvl="6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3657600" lvl="7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4114800" lvl="8" indent="-3302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5269107" name="Google Shape;53;g320ca67c64f_0_409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 algn="r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378306" name="Google Shape;6;p1"/>
          <p:cNvSpPr txBox="1">
            <a:spLocks noGrp="1"/>
          </p:cNvSpPr>
          <p:nvPr>
            <p:ph type="title"/>
          </p:nvPr>
        </p:nvSpPr>
        <p:spPr bwMode="auto">
          <a:xfrm rot="-5400000">
            <a:off x="6675149" y="2679222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Condensed"/>
              <a:buNone/>
              <a:defRPr sz="24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25863831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228600" y="228600"/>
            <a:ext cx="80010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  <a:lvl2pPr marL="914400" lvl="1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2pPr>
            <a:lvl3pPr marL="1371600" lvl="2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3pPr>
            <a:lvl4pPr marL="1828800" lvl="3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4pPr>
            <a:lvl5pPr marL="2286000" lvl="4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5pPr>
            <a:lvl6pPr marL="2743200" lvl="5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6pPr>
            <a:lvl7pPr marL="3200400" lvl="6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7pPr>
            <a:lvl8pPr marL="3657600" lvl="7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8pPr>
            <a:lvl9pPr marL="4114800" lvl="8" indent="-330200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•"/>
              <a:defRPr sz="1600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16690046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1pPr>
            <a:lvl2pPr lvl="1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2pPr>
            <a:lvl3pPr lvl="2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3pPr>
            <a:lvl4pPr lvl="3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4pPr>
            <a:lvl5pPr lvl="4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5pPr>
            <a:lvl6pPr lvl="5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6pPr>
            <a:lvl7pPr lvl="6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7pPr>
            <a:lvl8pPr lvl="7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8pPr>
            <a:lvl9pPr lvl="8" algn="r" rtl="0">
              <a:buNone/>
              <a:defRPr sz="4800" b="1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dt="0" ftr="0" hdr="0" sldNum="1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263693" name="Title Placeholder 1"/>
          <p:cNvSpPr>
            <a:spLocks noGrp="1"/>
          </p:cNvSpPr>
          <p:nvPr>
            <p:ph type="title"/>
          </p:nvPr>
        </p:nvSpPr>
        <p:spPr bwMode="auto">
          <a:xfrm>
            <a:off x="539551" y="141480"/>
            <a:ext cx="8064895" cy="64807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1838182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39551" y="1005575"/>
            <a:ext cx="8064895" cy="3726414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4242493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539551" y="4831545"/>
            <a:ext cx="2133599" cy="273843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786225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940151" y="4812374"/>
            <a:ext cx="2895598" cy="273843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3473290" name="Slide Number Placeholder 8"/>
          <p:cNvSpPr>
            <a:spLocks noGrp="1"/>
          </p:cNvSpPr>
          <p:nvPr>
            <p:ph type="sldNum" sz="quarter" idx="4"/>
          </p:nvPr>
        </p:nvSpPr>
        <p:spPr bwMode="auto">
          <a:xfrm>
            <a:off x="4133849" y="4840002"/>
            <a:ext cx="876299" cy="21907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hf dt="0" ftr="0" hdr="0" sldNum="1"/>
  <p:txStyles>
    <p:titleStyle>
      <a:lvl1pPr algn="ctr" defTabSz="914400" rtl="0">
        <a:spcBef>
          <a:spcPts val="398"/>
        </a:spcBef>
        <a:buNone/>
        <a:defRPr sz="3600" b="0" cap="none" spc="0">
          <a:solidFill>
            <a:schemeClr val="bg1"/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 rtl="0">
        <a:spcBef>
          <a:spcPts val="599"/>
        </a:spcBef>
        <a:spcAft>
          <a:spcPts val="0"/>
        </a:spcAft>
        <a:buClr>
          <a:schemeClr val="accent1"/>
        </a:buClr>
        <a:buFont typeface="Arial"/>
        <a:buChar char="•"/>
        <a:defRPr sz="2200" b="0" i="0" cap="none" spc="28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513651" indent="-342900" algn="l" defTabSz="914400" rtl="0">
        <a:spcBef>
          <a:spcPts val="599"/>
        </a:spcBef>
        <a:buClr>
          <a:schemeClr val="accent1"/>
        </a:buClr>
        <a:buFont typeface="Times New Roman"/>
        <a:buChar char="–"/>
        <a:defRPr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627951" indent="-285750" algn="l" defTabSz="914400" rtl="0">
        <a:spcBef>
          <a:spcPts val="599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800988" indent="-285750" algn="l" defTabSz="914400" rtl="0">
        <a:spcBef>
          <a:spcPts val="599"/>
        </a:spcBef>
        <a:buClr>
          <a:schemeClr val="accent1"/>
        </a:buClr>
        <a:buFont typeface="Times New Roman"/>
        <a:buChar char="–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972438" indent="-285750" algn="l" defTabSz="914400" rtl="0">
        <a:spcBef>
          <a:spcPts val="599"/>
        </a:spcBef>
        <a:buClr>
          <a:schemeClr val="accent1"/>
        </a:buClr>
        <a:buFont typeface="Times New Roman"/>
        <a:buChar char="»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105156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1417319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5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74346" name="Google Shape;107;p2"/>
          <p:cNvSpPr txBox="1">
            <a:spLocks noGrp="1"/>
          </p:cNvSpPr>
          <p:nvPr>
            <p:ph type="ctrTitle"/>
          </p:nvPr>
        </p:nvSpPr>
        <p:spPr bwMode="auto">
          <a:xfrm>
            <a:off x="447831" y="154544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pPr>
            <a:r>
              <a:rPr lang="en"/>
              <a:t>Welcome to </a:t>
            </a:r>
            <a:br>
              <a:rPr lang="en"/>
            </a:br>
            <a:r>
              <a:rPr lang="en"/>
              <a:t>Intro to Programming! </a:t>
            </a:r>
            <a:br>
              <a:rPr lang="en"/>
            </a:br>
            <a:r>
              <a:rPr lang="en"/>
              <a:t>(IT-CS 115)</a:t>
            </a:r>
            <a:endParaRPr/>
          </a:p>
        </p:txBody>
      </p:sp>
      <p:sp>
        <p:nvSpPr>
          <p:cNvPr id="1498260574" name="Google Shape;108;p2"/>
          <p:cNvSpPr txBox="1">
            <a:spLocks noGrp="1"/>
          </p:cNvSpPr>
          <p:nvPr>
            <p:ph type="subTitle" idx="1"/>
          </p:nvPr>
        </p:nvSpPr>
        <p:spPr bwMode="auto">
          <a:xfrm>
            <a:off x="311707" y="3663674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pPr>
            <a:r>
              <a:rPr lang="en-US"/>
              <a:t>Mike Panitz</a:t>
            </a:r>
            <a:endParaRPr/>
          </a:p>
        </p:txBody>
      </p:sp>
      <p:pic>
        <p:nvPicPr>
          <p:cNvPr id="1860734032" name="Google Shape;109;p2" descr="Logo for &quot;Cascadia College, in Bothell&quot;" title="Logo for &quot;Cascadia College, in Bothell&quot;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rot="0" flipH="0" flipV="0">
            <a:off x="7717535" y="4187952"/>
            <a:ext cx="1344167" cy="923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30612" name="Logo for the Java programming language" descr="Logo for the Java programming language" title="Logo for the Java programming language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 rot="0" flipH="0" flipV="0">
            <a:off x="118872" y="4187952"/>
            <a:ext cx="1883664" cy="859535"/>
          </a:xfrm>
          <a:prstGeom prst="rect">
            <a:avLst/>
          </a:prstGeom>
          <a:noFill/>
          <a:ln>
            <a:noFill/>
          </a:ln>
        </p:spPr>
      </p:pic>
      <p:sp>
        <p:nvSpPr>
          <p:cNvPr id="2059916874" name="Google Shape;111;p2"/>
          <p:cNvSpPr txBox="1">
            <a:spLocks noGrp="1"/>
          </p:cNvSpPr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745746" name="Google Shape;128;p4"/>
          <p:cNvSpPr txBox="1">
            <a:spLocks noGrp="1"/>
          </p:cNvSpPr>
          <p:nvPr>
            <p:ph type="title"/>
          </p:nvPr>
        </p:nvSpPr>
        <p:spPr bwMode="auto">
          <a:xfrm>
            <a:off x="228600" y="228600"/>
            <a:ext cx="68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Objective: learn the vocab of programming!</a:t>
            </a:r>
            <a:endParaRPr/>
          </a:p>
        </p:txBody>
      </p:sp>
      <p:sp>
        <p:nvSpPr>
          <p:cNvPr id="930134212" name="Google Shape;129;p4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Learn Java, a specific programming language!</a:t>
            </a:r>
            <a:endParaRPr/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You’ll learn by doing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Practice, 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practice, 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practice!</a:t>
            </a:r>
            <a:endParaRPr/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Solve small problems</a:t>
            </a:r>
            <a:endParaRPr b="1"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  <a:defRPr/>
            </a:pPr>
            <a:endParaRPr/>
          </a:p>
        </p:txBody>
      </p:sp>
      <p:sp>
        <p:nvSpPr>
          <p:cNvPr id="752645093" name="Google Shape;130;p4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525302" name="Google Shape;135;p5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IT-CS 115</a:t>
            </a:r>
            <a:endParaRPr/>
          </a:p>
        </p:txBody>
      </p:sp>
      <p:sp>
        <p:nvSpPr>
          <p:cNvPr id="1958905574" name="Google Shape;136;p5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Move to IT-CS 142 if you’ve seen the topics already and have learned the </a:t>
            </a:r>
            <a:r>
              <a:rPr lang="en" b="1"/>
              <a:t>vocab</a:t>
            </a:r>
            <a:r>
              <a:rPr lang="en"/>
              <a:t> of programming!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Variables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Math Expressions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Conditionals (If statements)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Logical Expressions (&amp;&amp;, ||, !)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For Loops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While Loops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Methods, Parameters, Return Values</a:t>
            </a:r>
            <a:endParaRPr/>
          </a:p>
          <a:p>
            <a:pPr marL="914400" lvl="1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Arrays</a:t>
            </a:r>
            <a:endParaRPr/>
          </a:p>
          <a:p>
            <a:pPr marL="457200" lvl="0" indent="-3302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Come talk to me after class if you are unsure!</a:t>
            </a:r>
            <a:endParaRPr/>
          </a:p>
        </p:txBody>
      </p:sp>
      <p:sp>
        <p:nvSpPr>
          <p:cNvPr id="1796625816" name="Google Shape;137;p5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89882" name="Google Shape;143;p6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Towards Specializations</a:t>
            </a:r>
            <a:endParaRPr/>
          </a:p>
        </p:txBody>
      </p:sp>
      <p:sp>
        <p:nvSpPr>
          <p:cNvPr id="713983725" name="Google Shape;144;p6"/>
          <p:cNvSpPr/>
          <p:nvPr/>
        </p:nvSpPr>
        <p:spPr bwMode="auto">
          <a:xfrm rot="10800000" flipH="1">
            <a:off x="1479144" y="1072416"/>
            <a:ext cx="365700" cy="36900"/>
          </a:xfrm>
          <a:prstGeom prst="roundRect">
            <a:avLst>
              <a:gd name="adj" fmla="val 50000"/>
            </a:avLst>
          </a:prstGeom>
          <a:solidFill>
            <a:srgbClr val="B6A479"/>
          </a:solidFill>
          <a:ln w="9525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699421922" name="Google Shape;145;p6" descr="IT-CS 115: Vocabulary&#10;- Methods&#10;- Control Structures&#10;- Data Types&#10;"/>
          <p:cNvGrpSpPr/>
          <p:nvPr/>
        </p:nvGrpSpPr>
        <p:grpSpPr bwMode="auto">
          <a:xfrm>
            <a:off x="0" y="827263"/>
            <a:ext cx="1755000" cy="2244193"/>
            <a:chOff x="571525" y="1957150"/>
            <a:chExt cx="1755000" cy="2244193"/>
          </a:xfrm>
        </p:grpSpPr>
        <p:sp>
          <p:nvSpPr>
            <p:cNvPr id="146" name="Google Shape;146;p6"/>
            <p:cNvSpPr/>
            <p:nvPr/>
          </p:nvSpPr>
          <p:spPr bwMode="auto">
            <a:xfrm>
              <a:off x="1151886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B6A4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47" name="Google Shape;147;p6"/>
            <p:cNvSpPr txBox="1"/>
            <p:nvPr/>
          </p:nvSpPr>
          <p:spPr bwMode="auto">
            <a:xfrm>
              <a:off x="1230636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115</a:t>
              </a:r>
              <a:endParaRPr sz="1000" b="1" i="0" u="none" strike="noStrike" cap="none">
                <a:solidFill>
                  <a:srgbClr val="0C0C0C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48" name="Google Shape;148;p6"/>
            <p:cNvSpPr txBox="1"/>
            <p:nvPr/>
          </p:nvSpPr>
          <p:spPr bwMode="auto">
            <a:xfrm>
              <a:off x="5944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Vocabulary</a:t>
              </a:r>
              <a:endParaRPr sz="1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49" name="Google Shape;149;p6"/>
            <p:cNvSpPr txBox="1"/>
            <p:nvPr/>
          </p:nvSpPr>
          <p:spPr bwMode="auto">
            <a:xfrm>
              <a:off x="571525" y="3117743"/>
              <a:ext cx="17550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Methods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Control Structures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Data Types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526528892" name="Google Shape;150;p6" descr="IT-CS 142: Grammar&#10;- Using Data Structures&#10;- Object-Oriented Programming&#10;"/>
          <p:cNvGrpSpPr/>
          <p:nvPr/>
        </p:nvGrpSpPr>
        <p:grpSpPr bwMode="auto">
          <a:xfrm>
            <a:off x="1479150" y="827263"/>
            <a:ext cx="1709100" cy="2244193"/>
            <a:chOff x="2699425" y="1957150"/>
            <a:chExt cx="1709100" cy="2244193"/>
          </a:xfrm>
        </p:grpSpPr>
        <p:sp>
          <p:nvSpPr>
            <p:cNvPr id="151" name="Google Shape;151;p6"/>
            <p:cNvSpPr/>
            <p:nvPr/>
          </p:nvSpPr>
          <p:spPr bwMode="auto">
            <a:xfrm>
              <a:off x="3256823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B6A4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 bwMode="auto">
            <a:xfrm>
              <a:off x="2699425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Grammar</a:t>
              </a:r>
              <a:endParaRPr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 bwMode="auto">
            <a:xfrm>
              <a:off x="2699425" y="3117743"/>
              <a:ext cx="17091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Using Data Structures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Object-Oriented Programming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14999"/>
                </a:lnSpc>
                <a:spcBef>
                  <a:spcPts val="60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4" name="Google Shape;154;p6"/>
            <p:cNvSpPr txBox="1"/>
            <p:nvPr/>
          </p:nvSpPr>
          <p:spPr bwMode="auto">
            <a:xfrm>
              <a:off x="3329873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142</a:t>
              </a:r>
              <a:endParaRPr sz="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150406422" name="Google Shape;155;p6" descr="IT-CS 143: Structured Writing&#10;- Object Design&#10;- Data Abstraction&#10;- Algorithms&#10;"/>
          <p:cNvGrpSpPr/>
          <p:nvPr/>
        </p:nvGrpSpPr>
        <p:grpSpPr bwMode="auto">
          <a:xfrm>
            <a:off x="3188250" y="827263"/>
            <a:ext cx="1709113" cy="2244192"/>
            <a:chOff x="4781400" y="1957150"/>
            <a:chExt cx="1709113" cy="2244192"/>
          </a:xfrm>
        </p:grpSpPr>
        <p:sp>
          <p:nvSpPr>
            <p:cNvPr id="156" name="Google Shape;156;p6"/>
            <p:cNvSpPr/>
            <p:nvPr/>
          </p:nvSpPr>
          <p:spPr bwMode="auto">
            <a:xfrm>
              <a:off x="5338808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B6A47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 bwMode="auto">
            <a:xfrm>
              <a:off x="4781413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Structured</a:t>
              </a:r>
              <a:r>
                <a:rPr lang="en" sz="10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</a:t>
              </a: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Writing</a:t>
              </a:r>
              <a:endParaRPr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8" name="Google Shape;158;p6"/>
            <p:cNvSpPr txBox="1"/>
            <p:nvPr/>
          </p:nvSpPr>
          <p:spPr bwMode="auto">
            <a:xfrm>
              <a:off x="4781400" y="3117742"/>
              <a:ext cx="1709100" cy="108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Object Design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Data Abstraction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Algorithms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dk2"/>
                </a:buClr>
                <a:buSzPts val="1100"/>
                <a:buFont typeface="Arial"/>
                <a:buNone/>
                <a:defRPr/>
              </a:pP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59" name="Google Shape;159;p6"/>
            <p:cNvSpPr txBox="1"/>
            <p:nvPr/>
          </p:nvSpPr>
          <p:spPr bwMode="auto">
            <a:xfrm>
              <a:off x="5417558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143</a:t>
              </a:r>
              <a:endParaRPr sz="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1511100581" name="Google Shape;160;p6" descr="IT-CS 265:&#10;- Data Structure Design and Implementation&#10;- Algorithmic Design&#10;- Code Analysis&#10;"/>
          <p:cNvGrpSpPr/>
          <p:nvPr/>
        </p:nvGrpSpPr>
        <p:grpSpPr bwMode="auto">
          <a:xfrm>
            <a:off x="4969950" y="827263"/>
            <a:ext cx="1709113" cy="2473395"/>
            <a:chOff x="6863375" y="1957150"/>
            <a:chExt cx="1709113" cy="2473395"/>
          </a:xfrm>
        </p:grpSpPr>
        <p:sp>
          <p:nvSpPr>
            <p:cNvPr id="161" name="Google Shape;161;p6"/>
            <p:cNvSpPr/>
            <p:nvPr/>
          </p:nvSpPr>
          <p:spPr bwMode="auto">
            <a:xfrm>
              <a:off x="7420786" y="1957150"/>
              <a:ext cx="594300" cy="594300"/>
            </a:xfrm>
            <a:prstGeom prst="ellipse">
              <a:avLst/>
            </a:prstGeom>
            <a:noFill/>
            <a:ln w="38100" cap="flat" cmpd="sng">
              <a:solidFill>
                <a:srgbClr val="4C328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2" name="Google Shape;162;p6"/>
            <p:cNvSpPr txBox="1"/>
            <p:nvPr/>
          </p:nvSpPr>
          <p:spPr bwMode="auto">
            <a:xfrm>
              <a:off x="6863388" y="2660925"/>
              <a:ext cx="1709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Creative</a:t>
              </a:r>
              <a:r>
                <a:rPr lang="en" sz="10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 </a:t>
              </a:r>
              <a:r>
                <a:rPr lang="en" sz="1400" b="1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Writing</a:t>
              </a:r>
              <a:endParaRPr sz="10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3" name="Google Shape;163;p6"/>
            <p:cNvSpPr txBox="1"/>
            <p:nvPr/>
          </p:nvSpPr>
          <p:spPr bwMode="auto">
            <a:xfrm>
              <a:off x="6863375" y="3117745"/>
              <a:ext cx="1709100" cy="13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Data Structure Design and Implementation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Algorithmic Design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Code Analysis</a:t>
              </a:r>
              <a:endPara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800"/>
                <a:buFont typeface="Arial"/>
                <a:buNone/>
                <a:defRPr/>
              </a:pPr>
              <a:endParaRPr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  <p:sp>
          <p:nvSpPr>
            <p:cNvPr id="164" name="Google Shape;164;p6"/>
            <p:cNvSpPr txBox="1"/>
            <p:nvPr/>
          </p:nvSpPr>
          <p:spPr bwMode="auto">
            <a:xfrm>
              <a:off x="7499536" y="2093808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4999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000"/>
                <a:buFont typeface="Arial"/>
                <a:buNone/>
                <a:defRPr/>
              </a:pPr>
              <a:r>
                <a:rPr lang="en" sz="1000" b="1" i="0" u="none" strike="noStrike" cap="none">
                  <a:solidFill>
                    <a:srgbClr val="0C0C0C"/>
                  </a:solidFill>
                  <a:latin typeface="Roboto"/>
                  <a:ea typeface="Roboto"/>
                  <a:cs typeface="Roboto"/>
                </a:rPr>
                <a:t>265</a:t>
              </a:r>
              <a:endParaRPr sz="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endParaRPr>
            </a:p>
          </p:txBody>
        </p:sp>
      </p:grpSp>
      <p:sp>
        <p:nvSpPr>
          <p:cNvPr id="1024595690" name="Google Shape;165;p6"/>
          <p:cNvSpPr/>
          <p:nvPr/>
        </p:nvSpPr>
        <p:spPr bwMode="auto">
          <a:xfrm>
            <a:off x="2945450" y="1118233"/>
            <a:ext cx="365700" cy="36900"/>
          </a:xfrm>
          <a:prstGeom prst="roundRect">
            <a:avLst>
              <a:gd name="adj" fmla="val 50000"/>
            </a:avLst>
          </a:prstGeom>
          <a:solidFill>
            <a:srgbClr val="B6A479"/>
          </a:solidFill>
          <a:ln w="9525" cap="flat" cmpd="sng">
            <a:solidFill>
              <a:srgbClr val="B6A4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775094" name="Google Shape;166;p6"/>
          <p:cNvSpPr/>
          <p:nvPr/>
        </p:nvSpPr>
        <p:spPr bwMode="auto">
          <a:xfrm>
            <a:off x="4768850" y="1118235"/>
            <a:ext cx="365700" cy="36900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3748059" name="Google Shape;167;p6"/>
          <p:cNvSpPr/>
          <p:nvPr/>
        </p:nvSpPr>
        <p:spPr bwMode="auto">
          <a:xfrm>
            <a:off x="6246975" y="1118225"/>
            <a:ext cx="594300" cy="36900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4017543" name="Google Shape;168;p6"/>
          <p:cNvSpPr/>
          <p:nvPr/>
        </p:nvSpPr>
        <p:spPr bwMode="auto">
          <a:xfrm rot="-1535707">
            <a:off x="6236801" y="985845"/>
            <a:ext cx="594432" cy="36901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0976" name="Google Shape;169;p6"/>
          <p:cNvSpPr/>
          <p:nvPr/>
        </p:nvSpPr>
        <p:spPr bwMode="auto">
          <a:xfrm rot="-9264293" flipH="1">
            <a:off x="6226676" y="1251419"/>
            <a:ext cx="594432" cy="36901"/>
          </a:xfrm>
          <a:prstGeom prst="roundRect">
            <a:avLst>
              <a:gd name="adj" fmla="val 50000"/>
            </a:avLst>
          </a:prstGeom>
          <a:solidFill>
            <a:srgbClr val="4C3282"/>
          </a:solidFill>
          <a:ln w="9525" cap="flat" cmpd="sng">
            <a:solidFill>
              <a:srgbClr val="4C32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4665833" name="Google Shape;170;p6"/>
          <p:cNvSpPr txBox="1"/>
          <p:nvPr/>
        </p:nvSpPr>
        <p:spPr bwMode="auto">
          <a:xfrm>
            <a:off x="6882950" y="925925"/>
            <a:ext cx="21858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r>
              <a:rPr lang="en" sz="14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CS Specializations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31926724" name="Google Shape;172;p6"/>
          <p:cNvSpPr txBox="1"/>
          <p:nvPr/>
        </p:nvSpPr>
        <p:spPr bwMode="auto">
          <a:xfrm>
            <a:off x="6882950" y="2953350"/>
            <a:ext cx="2185800" cy="21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Web development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Mobile Applications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Databases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Cybersecurity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Computer Systems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AI/Machine Learning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Data Science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Advanced Algorithms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Human-Computer Interaction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Interdisciplinary…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>
            <a:pPr marL="457200" marR="0" lvl="0" indent="-3175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/>
            </a:pPr>
            <a:r>
              <a:rPr lang="en"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And many more!</a:t>
            </a:r>
            <a:endParaRPr sz="14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52911864" name="Google Shape;171;p6"/>
          <p:cNvSpPr txBox="1"/>
          <p:nvPr/>
        </p:nvSpPr>
        <p:spPr bwMode="auto">
          <a:xfrm>
            <a:off x="119175" y="3810074"/>
            <a:ext cx="61278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/>
            </a:pPr>
            <a:r>
              <a:rPr lang="en" sz="16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If you are learning programming to help write smaller scale programs for other fields (ex. Physical sciences), you don’t need to go down this full path towards the more computer science-y specializations</a:t>
            </a:r>
            <a:endParaRPr sz="16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541565030" name="Google Shape;173;p6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98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52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95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40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10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4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01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6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316532" name="Google Shape;178;g320ca67c64f_0_233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Communication Tools</a:t>
            </a:r>
            <a:endParaRPr/>
          </a:p>
        </p:txBody>
      </p:sp>
      <p:sp>
        <p:nvSpPr>
          <p:cNvPr id="1291550158" name="Google Shape;179;g320ca67c64f_0_233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lvl="0">
              <a:defRPr/>
            </a:pPr>
            <a:r>
              <a:rPr lang="en-US"/>
              <a:t>CANVAS</a:t>
            </a:r>
            <a:endParaRPr/>
          </a:p>
          <a:p>
            <a:pPr lvl="1">
              <a:defRPr/>
            </a:pPr>
            <a:r>
              <a:rPr lang="en-US"/>
              <a:t>Most everything you need is here!</a:t>
            </a:r>
            <a:endParaRPr/>
          </a:p>
          <a:p>
            <a:pPr marL="584199" lvl="1" indent="0">
              <a:buClr>
                <a:schemeClr val="dk2"/>
              </a:buClr>
              <a:buSzPts val="1600"/>
              <a:buFont typeface="Open Sans"/>
              <a:buNone/>
              <a:defRPr/>
            </a:pPr>
            <a:endParaRPr/>
          </a:p>
          <a:p>
            <a:pPr>
              <a:defRPr/>
            </a:pPr>
            <a:r>
              <a:rPr lang="en-US"/>
              <a:t>Zoom office hours!</a:t>
            </a:r>
            <a:endParaRPr lang="en-US"/>
          </a:p>
          <a:p>
            <a:pPr lvl="1">
              <a:defRPr/>
            </a:pPr>
            <a:r>
              <a:rPr lang="en-US"/>
              <a:t>These is time dedicated to helping y’all </a:t>
            </a:r>
            <a:endParaRPr lang="en-US"/>
          </a:p>
          <a:p>
            <a:pPr lvl="1">
              <a:defRPr/>
            </a:pPr>
            <a:r>
              <a:rPr lang="en-US"/>
              <a:t>If these times don’t work for you then contact me and we’ll try to find a time that does</a:t>
            </a:r>
            <a:endParaRPr lang="en-US"/>
          </a:p>
          <a:p>
            <a:pPr lvl="1">
              <a:defRPr/>
            </a:pPr>
            <a:endParaRPr/>
          </a:p>
          <a:p>
            <a:pPr lvl="0">
              <a:defRPr/>
            </a:pPr>
            <a:r>
              <a:rPr lang="en-US" sz="1600" b="0" i="0" u="none" strike="noStrike" cap="none" spc="0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Canvas message to reach me.</a:t>
            </a:r>
            <a:r>
              <a:rPr/>
              <a:t> </a:t>
            </a:r>
            <a:r>
              <a:rPr sz="1100"/>
              <a:t>(email works too)</a:t>
            </a:r>
            <a:endParaRPr sz="1600"/>
          </a:p>
          <a:p>
            <a:pPr lvl="1">
              <a:defRPr/>
            </a:pPr>
            <a:r>
              <a:rPr lang="en-US" sz="1600" b="0" i="0" u="none" strike="noStrike" cap="none" spc="0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Setup zoom appointments through this</a:t>
            </a:r>
            <a:endParaRPr/>
          </a:p>
        </p:txBody>
      </p:sp>
      <p:sp>
        <p:nvSpPr>
          <p:cNvPr id="586471231" name="Google Shape;180;g320ca67c64f_0_233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07443" name="Google Shape;208;g320ca67c64f_0_259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Let’s look at Canvas #1</a:t>
            </a:r>
            <a:endParaRPr/>
          </a:p>
        </p:txBody>
      </p:sp>
      <p:sp>
        <p:nvSpPr>
          <p:cNvPr id="371504139" name="Google Shape;209;g320ca67c64f_0_259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Home page</a:t>
            </a:r>
            <a:endParaRPr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Office Hours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 b="1"/>
              <a:t>Free</a:t>
            </a:r>
            <a:r>
              <a:rPr lang="en"/>
              <a:t> online textbook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"/>
              <a:t>Using Office Hours</a:t>
            </a:r>
            <a:endParaRPr/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Obtain help on understanding: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In-class work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Out of class assignments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Feedback I’ve given you on an assignment.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Have a space to work on assignments… 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It's totally fine if you don't have any questions! But if you do I will be easily in reach!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Ask about more advanced CS topics you're interested in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  <a:defRPr/>
            </a:pPr>
            <a:r>
              <a:rPr lang="en" sz="1500"/>
              <a:t>Talk about non-CS interests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249079686" name="Google Shape;210;g320ca67c64f_0_259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238611" name="Google Shape;215;g320ca67c64f_0_265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Let’s look at Canvas #2</a:t>
            </a:r>
            <a:endParaRPr/>
          </a:p>
        </p:txBody>
      </p:sp>
      <p:sp>
        <p:nvSpPr>
          <p:cNvPr id="938605179" name="Google Shape;216;g320ca67c64f_0_265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Announcements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Please set up your Canvas Notifications so you get Announcements and Grades “Immediately”.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Account Notifications: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pic>
        <p:nvPicPr>
          <p:cNvPr id="1549180779" name="Google Shape;218;g320ca67c64f_0_265" descr="Click on Account on the left-hand bar of Canvas. Then click on Notifications.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38950" y="2244500"/>
            <a:ext cx="3567400" cy="9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8968825" name="Google Shape;219;g320ca67c64f_0_265" descr="Within notification settings. Adjust the push notifications and email options for due date, announcement, and grading.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845300" y="1836075"/>
            <a:ext cx="5218830" cy="3083324"/>
          </a:xfrm>
          <a:prstGeom prst="rect">
            <a:avLst/>
          </a:prstGeom>
          <a:noFill/>
          <a:ln>
            <a:noFill/>
          </a:ln>
        </p:spPr>
      </p:pic>
      <p:sp>
        <p:nvSpPr>
          <p:cNvPr id="502325881" name="Google Shape;217;g320ca67c64f_0_265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323210" name="Google Shape;177;p25"/>
          <p:cNvSpPr txBox="1">
            <a:spLocks noGrp="1"/>
          </p:cNvSpPr>
          <p:nvPr>
            <p:ph type="title"/>
          </p:nvPr>
        </p:nvSpPr>
        <p:spPr bwMode="auto">
          <a:xfrm>
            <a:off x="228600" y="228597"/>
            <a:ext cx="4114800" cy="365700"/>
          </a:xfrm>
          <a:prstGeom prst="rect">
            <a:avLst/>
          </a:prstGeom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Let’s look at Canvas #3</a:t>
            </a:r>
            <a:endParaRPr/>
          </a:p>
        </p:txBody>
      </p:sp>
      <p:sp>
        <p:nvSpPr>
          <p:cNvPr id="1709855277" name="Google Shape;178;p25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r>
              <a:rPr lang="en" b="1"/>
              <a:t>Modules</a:t>
            </a:r>
            <a:endParaRPr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This is where almost all the course material is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The modules are organized into</a:t>
            </a:r>
            <a:r>
              <a:rPr lang="en-US"/>
              <a:t> units, </a:t>
            </a:r>
            <a:br>
              <a:rPr lang="en-US"/>
            </a:br>
            <a:r>
              <a:rPr lang="en-US"/>
              <a:t>where each unit is like a single in-person lecture</a:t>
            </a:r>
            <a:endParaRPr lang="en-US"/>
          </a:p>
          <a:p>
            <a:pPr marL="457200" lvl="0" indent="-330199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endParaRPr/>
          </a:p>
          <a:p>
            <a:pPr marL="457200" lvl="0" indent="-330199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 b="1">
                <a:solidFill>
                  <a:srgbClr val="8B008B"/>
                </a:solidFill>
              </a:rPr>
              <a:t>Syllabus</a:t>
            </a:r>
            <a:endParaRPr b="1">
              <a:solidFill>
                <a:srgbClr val="8B008B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If info isn’t on here, you should ask before it’s an issue.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pPr>
            <a:r>
              <a:rPr lang="en"/>
              <a:t>YOU are responsible for knowing the syllabus!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en-US" b="1" i="1"/>
              <a:t>Overview of materials for Getting Started modules (on Canvas)</a:t>
            </a:r>
            <a:endParaRPr b="1" i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1679764739" name="Google Shape;179;p25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defRPr/>
            </a:pPr>
            <a:fld id="{00000000-1234-1234-1234-123412341234}" type="slidenum">
              <a:rPr lang="en" sz="4800" b="1" i="0" u="none" strike="noStrike" cap="none" spc="0">
                <a:ln>
                  <a:noFill/>
                </a:ln>
                <a:solidFill>
                  <a:srgbClr val="382E42"/>
                </a:solidFill>
                <a:latin typeface="Encode Sans Condensed"/>
              </a:rPr>
              <a:t>9</a:t>
            </a:fld>
            <a:endParaRPr sz="4800" b="1" i="0" u="none" strike="noStrike" cap="none" spc="0">
              <a:ln>
                <a:noFill/>
              </a:ln>
              <a:solidFill>
                <a:srgbClr val="382E42"/>
              </a:solidFill>
              <a:latin typeface="Encode Sans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609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Computer Setup &amp; Digital Organization</a:t>
            </a:r>
            <a:endParaRPr/>
          </a:p>
        </p:txBody>
      </p:sp>
      <p:sp>
        <p:nvSpPr>
          <p:cNvPr id="799728541" name="Slide Number Placeholder 2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13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156581" name="Title 1"/>
          <p:cNvSpPr>
            <a:spLocks noGrp="1"/>
          </p:cNvSpPr>
          <p:nvPr>
            <p:ph type="title"/>
          </p:nvPr>
        </p:nvSpPr>
        <p:spPr bwMode="auto">
          <a:xfrm>
            <a:off x="228599" y="228597"/>
            <a:ext cx="5002400" cy="365700"/>
          </a:xfrm>
        </p:spPr>
        <p:txBody>
          <a:bodyPr/>
          <a:lstStyle/>
          <a:p>
            <a:pPr>
              <a:defRPr/>
            </a:pPr>
            <a:r>
              <a:rPr lang="en-US"/>
              <a:t>Start setting up your computer… NOW</a:t>
            </a:r>
            <a:endParaRPr/>
          </a:p>
        </p:txBody>
      </p:sp>
      <p:sp>
        <p:nvSpPr>
          <p:cNvPr id="719172185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Downloading can take a while!</a:t>
            </a:r>
            <a:endParaRPr/>
          </a:p>
          <a:p>
            <a:pPr>
              <a:defRPr/>
            </a:pPr>
            <a:r>
              <a:rPr lang="en-US"/>
              <a:t>In Canvas, in the </a:t>
            </a:r>
            <a:r>
              <a:rPr lang="en-US" b="1"/>
              <a:t>‘Modules</a:t>
            </a:r>
            <a:r>
              <a:rPr lang="en-US"/>
              <a:t>’ page, under </a:t>
            </a:r>
            <a:r>
              <a:rPr lang="en-US" b="1"/>
              <a:t>‘Variables &amp; Expressions and User Input’</a:t>
            </a:r>
            <a:endParaRPr lang="en-US"/>
          </a:p>
          <a:p>
            <a:pPr lvl="0">
              <a:defRPr/>
            </a:pPr>
            <a:r>
              <a:rPr lang="en-US"/>
              <a:t>follow the instructions in:</a:t>
            </a:r>
            <a:endParaRPr/>
          </a:p>
          <a:p>
            <a:pPr lvl="1">
              <a:defRPr/>
            </a:pPr>
            <a:r>
              <a:rPr lang="en-US" b="1"/>
              <a:t>01 Computer Setup &amp; Digital Organization</a:t>
            </a:r>
            <a:endParaRPr lang="en-US"/>
          </a:p>
        </p:txBody>
      </p:sp>
      <p:sp>
        <p:nvSpPr>
          <p:cNvPr id="2087128941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14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AD1D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282319" name="Google Shape;515;g32a7fc5f463_1_0"/>
          <p:cNvSpPr txBox="1">
            <a:spLocks noGrp="1"/>
          </p:cNvSpPr>
          <p:nvPr>
            <p:ph type="title"/>
          </p:nvPr>
        </p:nvSpPr>
        <p:spPr bwMode="auto">
          <a:xfrm>
            <a:off x="228600" y="228600"/>
            <a:ext cx="7639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pPr>
            <a:r>
              <a:rPr lang="en"/>
              <a:t>Office Hours &amp; Appointments</a:t>
            </a:r>
            <a:endParaRPr/>
          </a:p>
        </p:txBody>
      </p:sp>
      <p:sp>
        <p:nvSpPr>
          <p:cNvPr id="1166901506" name="Google Shape;516;g32a7fc5f463_1_0"/>
          <p:cNvSpPr txBox="1">
            <a:spLocks noGrp="1"/>
          </p:cNvSpPr>
          <p:nvPr>
            <p:ph type="body" idx="1"/>
          </p:nvPr>
        </p:nvSpPr>
        <p:spPr bwMode="auto">
          <a:xfrm>
            <a:off x="228600" y="685800"/>
            <a:ext cx="8686800" cy="4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127000" indent="0">
              <a:buNone/>
              <a:defRPr/>
            </a:pPr>
            <a:r>
              <a:rPr lang="en-US"/>
              <a:t>You can meet with me during:</a:t>
            </a:r>
            <a:endParaRPr/>
          </a:p>
          <a:p>
            <a:pPr lvl="1">
              <a:defRPr/>
            </a:pPr>
            <a:r>
              <a:rPr lang="en-US" b="1"/>
              <a:t>Office hours</a:t>
            </a:r>
            <a:r>
              <a:rPr lang="en-US"/>
              <a:t> </a:t>
            </a:r>
            <a:endParaRPr/>
          </a:p>
          <a:p>
            <a:pPr lvl="1">
              <a:defRPr/>
            </a:pPr>
            <a:r>
              <a:rPr lang="en-US" b="1"/>
              <a:t>In-person or Zoom appointment</a:t>
            </a:r>
            <a:r>
              <a:rPr lang="en-US"/>
              <a:t>—just send me a message on Canvas with a few times that work for you!</a:t>
            </a:r>
            <a:endParaRPr/>
          </a:p>
          <a:p>
            <a:pPr marL="127000" indent="0">
              <a:buNone/>
              <a:defRPr/>
            </a:pPr>
            <a:endParaRPr lang="en-US"/>
          </a:p>
          <a:p>
            <a:pPr marL="127000" indent="0">
              <a:buNone/>
              <a:defRPr/>
            </a:pPr>
            <a:r>
              <a:rPr lang="en-US"/>
              <a:t>I'm always happy to clarify feedback, help you work through something you're stuck on, or take a look at your homework </a:t>
            </a:r>
            <a:r>
              <a:rPr lang="en-US" i="1"/>
              <a:t>LIVE</a:t>
            </a:r>
            <a:r>
              <a:rPr lang="en-US"/>
              <a:t> before you submit.</a:t>
            </a:r>
            <a:endParaRPr/>
          </a:p>
          <a:p>
            <a:pPr marL="127000" indent="0">
              <a:buNone/>
              <a:defRPr/>
            </a:pPr>
            <a:endParaRPr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SzPts val="1600"/>
              <a:buNone/>
              <a:defRPr/>
            </a:pPr>
            <a:r>
              <a:rPr lang="en" b="1">
                <a:solidFill>
                  <a:srgbClr val="8B008B"/>
                </a:solidFill>
              </a:rPr>
              <a:t>Thanks for </a:t>
            </a:r>
            <a:r>
              <a:rPr lang="en-US" b="1">
                <a:solidFill>
                  <a:srgbClr val="8B008B"/>
                </a:solidFill>
              </a:rPr>
              <a:t>joining this class</a:t>
            </a:r>
            <a:r>
              <a:rPr lang="en" b="1">
                <a:solidFill>
                  <a:srgbClr val="8B008B"/>
                </a:solidFill>
              </a:rPr>
              <a:t>! See you next class! Stay safe and stay hydrated :)</a:t>
            </a:r>
            <a:endParaRPr b="1">
              <a:solidFill>
                <a:srgbClr val="8B008B"/>
              </a:solidFill>
            </a:endParaRPr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r>
              <a:rPr lang="en"/>
              <a:t>Please don't hesitate to reach out if you have any </a:t>
            </a:r>
            <a:endParaRPr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r>
              <a:rPr lang="en"/>
              <a:t>questions or concerns about the course! </a:t>
            </a:r>
            <a:br>
              <a:rPr lang="en"/>
            </a:br>
            <a:r>
              <a:rPr lang="en"/>
              <a:t>I’m here to support </a:t>
            </a:r>
            <a:r>
              <a:rPr lang="en"/>
              <a:t>you however we can!</a:t>
            </a:r>
            <a:endParaRPr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SzPts val="1600"/>
              <a:buNone/>
              <a:defRPr/>
            </a:pPr>
            <a:endParaRPr/>
          </a:p>
        </p:txBody>
      </p:sp>
      <p:sp>
        <p:nvSpPr>
          <p:cNvPr id="1572659985" name="Google Shape;517;g32a7fc5f463_1_0"/>
          <p:cNvSpPr txBox="1">
            <a:spLocks noGrp="1"/>
          </p:cNvSpPr>
          <p:nvPr>
            <p:ph type="sldNum" idx="12"/>
          </p:nvPr>
        </p:nvSpPr>
        <p:spPr bwMode="auto">
          <a:xfrm>
            <a:off x="8001000" y="2286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2104993391" name="Google Shape;518;g32a7fc5f463_1_0" descr="Decorative image of adorable animal saying &quot;Bye Bye&quot;" title="Decorative image of adorable animal saying &quot;Bye Bye&quot;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rot="0" flipH="0" flipV="0">
            <a:off x="6428232" y="3575303"/>
            <a:ext cx="2487168" cy="1435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otable">
  <a:themeElements>
    <a:clrScheme name="Simple Light">
      <a:dk1>
        <a:srgbClr val="382E42"/>
      </a:dk1>
      <a:lt1>
        <a:srgbClr val="FFFFFF"/>
      </a:lt1>
      <a:dk2>
        <a:srgbClr val="000000"/>
      </a:dk2>
      <a:lt2>
        <a:srgbClr val="CCCCCC"/>
      </a:lt2>
      <a:accent1>
        <a:srgbClr val="CE93D8"/>
      </a:accent1>
      <a:accent2>
        <a:srgbClr val="382E42"/>
      </a:accent2>
      <a:accent3>
        <a:srgbClr val="4D3663"/>
      </a:accent3>
      <a:accent4>
        <a:srgbClr val="FFCC80"/>
      </a:accent4>
      <a:accent5>
        <a:srgbClr val="B3E5FC"/>
      </a:accent5>
      <a:accent6>
        <a:srgbClr val="C3E88D"/>
      </a:accent6>
      <a:hlink>
        <a:srgbClr val="29B6F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Notable">
  <a:themeElements>
    <a:clrScheme name="Simple Light">
      <a:dk1>
        <a:srgbClr val="382E42"/>
      </a:dk1>
      <a:lt1>
        <a:srgbClr val="FFFFFF"/>
      </a:lt1>
      <a:dk2>
        <a:srgbClr val="000000"/>
      </a:dk2>
      <a:lt2>
        <a:srgbClr val="CCCCCC"/>
      </a:lt2>
      <a:accent1>
        <a:srgbClr val="CE93D8"/>
      </a:accent1>
      <a:accent2>
        <a:srgbClr val="382E42"/>
      </a:accent2>
      <a:accent3>
        <a:srgbClr val="4D3663"/>
      </a:accent3>
      <a:accent4>
        <a:srgbClr val="FFCC80"/>
      </a:accent4>
      <a:accent5>
        <a:srgbClr val="B3E5FC"/>
      </a:accent5>
      <a:accent6>
        <a:srgbClr val="C3E88D"/>
      </a:accent6>
      <a:hlink>
        <a:srgbClr val="29B6F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1_Notable">
  <a:themeElements>
    <a:clrScheme name="Simple Light">
      <a:dk1>
        <a:srgbClr val="382E42"/>
      </a:dk1>
      <a:lt1>
        <a:srgbClr val="FFFFFF"/>
      </a:lt1>
      <a:dk2>
        <a:srgbClr val="000000"/>
      </a:dk2>
      <a:lt2>
        <a:srgbClr val="CCCCCC"/>
      </a:lt2>
      <a:accent1>
        <a:srgbClr val="CE93D8"/>
      </a:accent1>
      <a:accent2>
        <a:srgbClr val="382E42"/>
      </a:accent2>
      <a:accent3>
        <a:srgbClr val="4D3663"/>
      </a:accent3>
      <a:accent4>
        <a:srgbClr val="FFCC80"/>
      </a:accent4>
      <a:accent5>
        <a:srgbClr val="B3E5FC"/>
      </a:accent5>
      <a:accent6>
        <a:srgbClr val="C3E88D"/>
      </a:accent6>
      <a:hlink>
        <a:srgbClr val="29B6F6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Green leaf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OHO">
      <a:fillStyleLst>
        <a:solidFill>
          <a:schemeClr val="phClr"/>
        </a:solidFill>
        <a:gradFill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/>
        </a:gradFill>
        <a:blipFill rotWithShape="1">
          <a:blip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Theme 1</vt:lpstr>
      <vt:lpstr>Theme 2</vt:lpstr>
      <vt:lpstr>Theme 3</vt:lpstr>
      <vt:lpstr>Theme 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5</cp:revision>
  <dcterms:modified xsi:type="dcterms:W3CDTF">2026-06-26T01:14:31Z</dcterms:modified>
</cp:coreProperties>
</file>